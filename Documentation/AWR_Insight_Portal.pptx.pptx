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2"/>
  </p:sldMasterIdLst>
  <p:notesMasterIdLst>
    <p:notesMasterId r:id="rId11"/>
  </p:notesMasterIdLst>
  <p:sldIdLst>
    <p:sldId id="2766" r:id="rId3"/>
    <p:sldId id="2759" r:id="rId4"/>
    <p:sldId id="2760" r:id="rId5"/>
    <p:sldId id="2761" r:id="rId6"/>
    <p:sldId id="2762" r:id="rId7"/>
    <p:sldId id="2763" r:id="rId8"/>
    <p:sldId id="2764" r:id="rId9"/>
    <p:sldId id="27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4A8522"/>
    <a:srgbClr val="CF9428"/>
    <a:srgbClr val="FDC145"/>
    <a:srgbClr val="D38D22"/>
    <a:srgbClr val="7DD9C4"/>
    <a:srgbClr val="BE5108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3443" autoAdjust="0"/>
  </p:normalViewPr>
  <p:slideViewPr>
    <p:cSldViewPr snapToGrid="0">
      <p:cViewPr>
        <p:scale>
          <a:sx n="60" d="100"/>
          <a:sy n="60" d="100"/>
        </p:scale>
        <p:origin x="7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CC975-68B8-4CFD-AFF8-5363A5E4896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3CAC5-BB6C-48C5-8DBD-9CCEE6D0A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41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Functional Testing Center of Excellence (TCoE) Framework</a:t>
            </a:r>
          </a:p>
          <a:p>
            <a:r>
              <a:rPr lang="en-IN" b="1" dirty="0"/>
              <a:t>1. Introduction</a:t>
            </a:r>
          </a:p>
          <a:p>
            <a:r>
              <a:rPr lang="en-IN" dirty="0"/>
              <a:t>A </a:t>
            </a:r>
            <a:r>
              <a:rPr lang="en-IN" b="1" dirty="0"/>
              <a:t>Functional Testing Center of Excellence (TCoE)</a:t>
            </a:r>
            <a:r>
              <a:rPr lang="en-IN" dirty="0"/>
              <a:t> is a centralized framework that standardizes functional testing processes, tools, and best practices across an organization. For a bank, a well-defined TCoE ensures software quality, regulatory compliance, and security in a highly regulated environment.</a:t>
            </a:r>
          </a:p>
          <a:p>
            <a:r>
              <a:rPr lang="en-IN" b="1" dirty="0"/>
              <a:t>2. Objectives of Functional TCoE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 </a:t>
            </a:r>
            <a:r>
              <a:rPr lang="en-IN" b="1" dirty="0"/>
              <a:t>software functionality</a:t>
            </a:r>
            <a:r>
              <a:rPr lang="en-IN" dirty="0"/>
              <a:t> and </a:t>
            </a:r>
            <a:r>
              <a:rPr lang="en-IN" b="1" dirty="0"/>
              <a:t>test coverage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 </a:t>
            </a:r>
            <a:r>
              <a:rPr lang="en-IN" b="1" dirty="0"/>
              <a:t>regulatory compliance</a:t>
            </a:r>
            <a:r>
              <a:rPr lang="en-IN" dirty="0"/>
              <a:t> (e.g., Basel III, GDPR, PCI DSS)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Enhance </a:t>
            </a:r>
            <a:r>
              <a:rPr lang="en-IN" b="1" dirty="0"/>
              <a:t>automation and reusability</a:t>
            </a:r>
            <a:r>
              <a:rPr lang="en-IN" dirty="0"/>
              <a:t> of functional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 </a:t>
            </a:r>
            <a:r>
              <a:rPr lang="en-IN" b="1" dirty="0"/>
              <a:t>cost optimization</a:t>
            </a:r>
            <a:r>
              <a:rPr lang="en-IN" dirty="0"/>
              <a:t> by reducing defects in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Drive </a:t>
            </a:r>
            <a:r>
              <a:rPr lang="en-IN" b="1" dirty="0"/>
              <a:t>consistency in functional test processes</a:t>
            </a:r>
            <a:r>
              <a:rPr lang="en-IN" dirty="0"/>
              <a:t> across all business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Foster </a:t>
            </a:r>
            <a:r>
              <a:rPr lang="en-IN" b="1" dirty="0"/>
              <a:t>collaboration</a:t>
            </a:r>
            <a:r>
              <a:rPr lang="en-IN" dirty="0"/>
              <a:t> between development, operations, and security teams</a:t>
            </a:r>
          </a:p>
          <a:p>
            <a:r>
              <a:rPr lang="en-IN" b="1" dirty="0"/>
              <a:t>3. Key Components of the Functional TCoE</a:t>
            </a:r>
          </a:p>
          <a:p>
            <a:r>
              <a:rPr lang="en-IN" b="1" dirty="0"/>
              <a:t>3.1 Governance &amp; Leadership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Testing Strategy &amp; Policy:</a:t>
            </a:r>
            <a:r>
              <a:rPr lang="en-IN" dirty="0"/>
              <a:t> Define enterprise-wide functional testing guidelines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Roles &amp; Responsibilities:</a:t>
            </a:r>
            <a:r>
              <a:rPr lang="en-IN" dirty="0"/>
              <a:t> Establish accountability for functional testing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Compliance &amp; Audit:</a:t>
            </a:r>
            <a:r>
              <a:rPr lang="en-IN" dirty="0"/>
              <a:t> Align functional testing with banking regulations and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Risk Management:</a:t>
            </a:r>
            <a:r>
              <a:rPr lang="en-IN" dirty="0"/>
              <a:t> Identify, assess, and mitigate software functionality risks proactively</a:t>
            </a:r>
          </a:p>
          <a:p>
            <a:r>
              <a:rPr lang="en-IN" b="1" dirty="0"/>
              <a:t>3.2 Test Automation &amp;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Automation Frameworks:</a:t>
            </a:r>
            <a:r>
              <a:rPr lang="en-IN" dirty="0"/>
              <a:t> Implement reusable, scalable functional test automation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Tool Selection:</a:t>
            </a:r>
            <a:r>
              <a:rPr lang="en-IN" dirty="0"/>
              <a:t> Utilize best-in-class tools for functional test management and automation (e.g., Selenium, Appium, Tosca, HP ALM)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Continuous Integration/Continuous Deployment (CI/CD):</a:t>
            </a:r>
            <a:r>
              <a:rPr lang="en-IN" dirty="0"/>
              <a:t> Integrate functional testing with DevOps pipelines (e.g., Jenkins, GitLab, Azure DevOps)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AI &amp; ML in Testing:</a:t>
            </a:r>
            <a:r>
              <a:rPr lang="en-IN" dirty="0"/>
              <a:t> Leverage AI-based predictive analytics for defect detection in functional tests</a:t>
            </a:r>
          </a:p>
          <a:p>
            <a:r>
              <a:rPr lang="en-IN" b="1" dirty="0"/>
              <a:t>3.3 Test Lifecycle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Test Planning &amp; Design:</a:t>
            </a:r>
            <a:r>
              <a:rPr lang="en-IN" dirty="0"/>
              <a:t> Standardized templates for functional test cases and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Unit &amp; Integration Testing:</a:t>
            </a:r>
            <a:r>
              <a:rPr lang="en-IN" dirty="0"/>
              <a:t> Ensure early defect detection in functional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Functional Testing:</a:t>
            </a:r>
            <a:r>
              <a:rPr lang="en-IN" dirty="0"/>
              <a:t> Validate banking application features, mobile banking, APIs, and user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Acceptance Testing (UAT):</a:t>
            </a:r>
            <a:r>
              <a:rPr lang="en-IN" dirty="0"/>
              <a:t> Engage business users for functional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Regression Testing:</a:t>
            </a:r>
            <a:r>
              <a:rPr lang="en-IN" dirty="0"/>
              <a:t> Automate functional test cases for frequent code changes and updates</a:t>
            </a:r>
          </a:p>
          <a:p>
            <a:r>
              <a:rPr lang="en-IN" b="1" dirty="0"/>
              <a:t>3.4 Data Management &amp; Test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Test Data Management (TDM):</a:t>
            </a:r>
            <a:r>
              <a:rPr lang="en-IN" dirty="0"/>
              <a:t> Use synthetic and anonymized data for functional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Environment Provisioning:</a:t>
            </a:r>
            <a:r>
              <a:rPr lang="en-IN" dirty="0"/>
              <a:t> Ensure dedicated, scalable test environments for functional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Service Virtualization:</a:t>
            </a:r>
            <a:r>
              <a:rPr lang="en-IN" dirty="0"/>
              <a:t> Simulate dependent banking systems for integration and functional testing</a:t>
            </a:r>
          </a:p>
          <a:p>
            <a:r>
              <a:rPr lang="en-IN" b="1" dirty="0"/>
              <a:t>3.5 Metrics &amp;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KPIs &amp; Metrics:</a:t>
            </a:r>
            <a:r>
              <a:rPr lang="en-IN" dirty="0"/>
              <a:t> Track functional defect density, test coverage, automation ROI,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Real-time Dashboards:</a:t>
            </a:r>
            <a:r>
              <a:rPr lang="en-IN" dirty="0"/>
              <a:t> Enable transparency across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Defect Analysis &amp; Predictive Insights:</a:t>
            </a:r>
            <a:r>
              <a:rPr lang="en-IN" dirty="0"/>
              <a:t> Use analytics for continuous functional improvements</a:t>
            </a:r>
          </a:p>
          <a:p>
            <a:r>
              <a:rPr lang="en-IN" b="1" dirty="0"/>
              <a:t>4. Implementation Roadmap</a:t>
            </a:r>
          </a:p>
          <a:p>
            <a:r>
              <a:rPr lang="en-IN" b="1" dirty="0"/>
              <a:t>Phase 1: Establish Foundation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Define the Functional TCoE charter and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Identify key stakeholders and governance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Standardize functional testing policies and frameworks</a:t>
            </a:r>
          </a:p>
          <a:p>
            <a:r>
              <a:rPr lang="en-IN" b="1" dirty="0"/>
              <a:t>Phase 2: Tool &amp; Process Standardization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Select and integrate functional testing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automation frameworks and CI/CD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 standardized functional test templates and repositories</a:t>
            </a:r>
          </a:p>
          <a:p>
            <a:r>
              <a:rPr lang="en-IN" b="1" dirty="0"/>
              <a:t>Phase 3: Scaling &amp; Maturity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Expand functional test automation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AI/ML-driven functional testing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 test data management and service virtualization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Conduct regular audits and compliance checks</a:t>
            </a:r>
          </a:p>
          <a:p>
            <a:r>
              <a:rPr lang="en-IN" b="1" dirty="0"/>
              <a:t>5. Continuous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Training &amp; Upskilling:</a:t>
            </a:r>
            <a:r>
              <a:rPr lang="en-IN" dirty="0"/>
              <a:t> Conduct regular training on new functional testing methodologies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Innovation:</a:t>
            </a:r>
            <a:r>
              <a:rPr lang="en-IN" dirty="0"/>
              <a:t> Explore emerging trends (AI, blockchain functional testing,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Feedback Loop:</a:t>
            </a:r>
            <a:r>
              <a:rPr lang="en-IN" dirty="0"/>
              <a:t> Continuously improve functional testing efficiency through retrospectives</a:t>
            </a:r>
          </a:p>
          <a:p>
            <a:r>
              <a:rPr lang="en-IN" b="1" dirty="0"/>
              <a:t>6. Conclusion</a:t>
            </a:r>
          </a:p>
          <a:p>
            <a:r>
              <a:rPr lang="en-IN" dirty="0"/>
              <a:t>A </a:t>
            </a:r>
            <a:r>
              <a:rPr lang="en-IN" b="1" dirty="0"/>
              <a:t>Functional Testing Center of Excellence</a:t>
            </a:r>
            <a:r>
              <a:rPr lang="en-IN" dirty="0"/>
              <a:t> ensures the reliability, compliance, and efficiency of functional testing while reducing risks associated with software failures. By implementing this framework, organizations can achieve a robust, scalable, and future-ready functional testing ecosystem.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B67FE9-0C85-4A2C-9A2D-5E7450A8841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00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13833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52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633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vekshaa_CP-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092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264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3453" y="6377940"/>
            <a:ext cx="2805825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74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D5D9-F927-809A-BDD4-9E5B5EFA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63B7F-7470-6E2A-6207-85B381591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AF83E-07D3-F43B-CABE-4F1EE64B0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87315-86EB-C662-86F2-6C8EAD43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8709-52AF-42FD-BF5D-98F0854A792F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9C69E-8CC0-A0CC-D4B9-355B9F306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0FF6E43D-86F9-7DD6-6E9A-C16522CFD3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83453" y="6377940"/>
            <a:ext cx="2805825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16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Holder 5">
            <a:extLst>
              <a:ext uri="{FF2B5EF4-FFF2-40B4-BE49-F238E27FC236}">
                <a16:creationId xmlns:a16="http://schemas.microsoft.com/office/drawing/2014/main" id="{1DB1E17C-D273-9FA5-8870-6991E9F8BA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83453" y="6377940"/>
            <a:ext cx="2805825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0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D8B0-CA9F-C044-774E-1352BDFF1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9C8BD-60D0-406F-3603-146222BC5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416F5-1310-5A88-8B32-7E4FF2C4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D8531-BA5D-D9D8-4D69-92734988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5D59A-65E6-4FAE-F91C-793EF541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595EE-9301-4A29-95EB-7BF194A12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1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C92E08D6-1972-D98F-7905-5A101C2904A8}"/>
              </a:ext>
            </a:extLst>
          </p:cNvPr>
          <p:cNvSpPr/>
          <p:nvPr userDrawn="1"/>
        </p:nvSpPr>
        <p:spPr>
          <a:xfrm rot="5400000">
            <a:off x="5789989" y="-5789991"/>
            <a:ext cx="612021" cy="1219200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34EA1">
                  <a:alpha val="78000"/>
                </a:srgbClr>
              </a:gs>
              <a:gs pos="100000">
                <a:srgbClr val="00B38C">
                  <a:alpha val="78000"/>
                </a:srgbClr>
              </a:gs>
            </a:gsLst>
            <a:lin ang="16200000" scaled="0"/>
            <a:tileRect/>
          </a:gra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25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1F45AC-D5D9-72BD-99ED-39F3F4AC8D0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6534150"/>
            <a:ext cx="9105900" cy="3238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12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20924C-35E7-FB76-7695-43667FB9F95A}"/>
              </a:ext>
            </a:extLst>
          </p:cNvPr>
          <p:cNvSpPr/>
          <p:nvPr userDrawn="1"/>
        </p:nvSpPr>
        <p:spPr>
          <a:xfrm>
            <a:off x="0" y="6534151"/>
            <a:ext cx="3086100" cy="32385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CD50CD-AE63-DE84-F73F-26D4E8A81FB8}"/>
              </a:ext>
            </a:extLst>
          </p:cNvPr>
          <p:cNvSpPr txBox="1"/>
          <p:nvPr userDrawn="1"/>
        </p:nvSpPr>
        <p:spPr>
          <a:xfrm>
            <a:off x="10566576" y="6550223"/>
            <a:ext cx="497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8FAA272-3A01-4107-A0CF-D18C7668535C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9251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9.png"/><Relationship Id="rId18" Type="http://schemas.microsoft.com/office/2007/relationships/hdphoto" Target="../media/hdphoto7.wdp"/><Relationship Id="rId3" Type="http://schemas.openxmlformats.org/officeDocument/2006/relationships/image" Target="../media/image3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microsoft.com/office/2007/relationships/hdphoto" Target="../media/hdphoto4.wdp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microsoft.com/office/2007/relationships/hdphoto" Target="../media/hdphoto6.wdp"/><Relationship Id="rId20" Type="http://schemas.microsoft.com/office/2007/relationships/hdphoto" Target="../media/hdphoto8.wdp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microsoft.com/office/2007/relationships/hdphoto" Target="../media/hdphoto3.wdp"/><Relationship Id="rId19" Type="http://schemas.openxmlformats.org/officeDocument/2006/relationships/image" Target="../media/image12.png"/><Relationship Id="rId4" Type="http://schemas.openxmlformats.org/officeDocument/2006/relationships/image" Target="../media/image4.jpeg"/><Relationship Id="rId9" Type="http://schemas.openxmlformats.org/officeDocument/2006/relationships/image" Target="../media/image7.png"/><Relationship Id="rId14" Type="http://schemas.microsoft.com/office/2007/relationships/hdphoto" Target="../media/hdphoto5.wdp"/><Relationship Id="rId22" Type="http://schemas.microsoft.com/office/2007/relationships/hdphoto" Target="../media/hdphoto9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object 3">
            <a:extLst>
              <a:ext uri="{FF2B5EF4-FFF2-40B4-BE49-F238E27FC236}">
                <a16:creationId xmlns:a16="http://schemas.microsoft.com/office/drawing/2014/main" id="{88861C90-1AAB-7BC4-4049-B5C7361EF7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675659"/>
            <a:ext cx="12191999" cy="349112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91C7204-6752-9A89-383F-6D7B9C3C598F}"/>
              </a:ext>
            </a:extLst>
          </p:cNvPr>
          <p:cNvSpPr>
            <a:spLocks/>
          </p:cNvSpPr>
          <p:nvPr/>
        </p:nvSpPr>
        <p:spPr>
          <a:xfrm>
            <a:off x="0" y="5166785"/>
            <a:ext cx="12192000" cy="1369721"/>
          </a:xfrm>
          <a:prstGeom prst="rect">
            <a:avLst/>
          </a:prstGeom>
          <a:solidFill>
            <a:srgbClr val="0070C0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7C8CD-7C26-BC2C-6468-D35716E19AC8}"/>
              </a:ext>
            </a:extLst>
          </p:cNvPr>
          <p:cNvSpPr txBox="1">
            <a:spLocks/>
          </p:cNvSpPr>
          <p:nvPr/>
        </p:nvSpPr>
        <p:spPr>
          <a:xfrm>
            <a:off x="1590471" y="2007910"/>
            <a:ext cx="9139241" cy="89974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lvl="0" indent="0" algn="ctr" defTabSz="914400" rtl="0" eaLnBrk="1" fontAlgn="auto" latinLnBrk="0" hangingPunct="1">
              <a:lnSpc>
                <a:spcPts val="302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AWR Insight Portal</a:t>
            </a:r>
            <a:endParaRPr kumimoji="0" lang="en-IN" sz="2400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D19772AE-420B-D556-EF08-1CAE016A34AD}"/>
              </a:ext>
            </a:extLst>
          </p:cNvPr>
          <p:cNvSpPr txBox="1">
            <a:spLocks/>
          </p:cNvSpPr>
          <p:nvPr/>
        </p:nvSpPr>
        <p:spPr>
          <a:xfrm>
            <a:off x="3584247" y="3867026"/>
            <a:ext cx="5151689" cy="94510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85725" tIns="42863" rIns="85725" bIns="4286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8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/>
                <a:cs typeface="Times New Roman"/>
              </a:rPr>
              <a:t>Avekshaa Technologies (P) Limited</a:t>
            </a:r>
            <a:endParaRPr kumimoji="0" lang="en-IN" sz="103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/>
                <a:cs typeface="Times New Roman"/>
              </a:rPr>
              <a:t>No.44, 2nd floor, 12th Main, Sector - 6,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/>
                <a:cs typeface="Times New Roman"/>
              </a:rPr>
              <a:t>Behind BDA Complex, HSR layout, Bangalore - 560 102.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/>
                <a:cs typeface="Times New Roman"/>
              </a:rPr>
              <a:t>www.avekshaa.com</a:t>
            </a:r>
            <a:endParaRPr kumimoji="0" lang="en-IN" sz="131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FF1B0-0779-BBDA-D1E9-4370A2CF22A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" t="14846" r="6523" b="14770"/>
          <a:stretch/>
        </p:blipFill>
        <p:spPr>
          <a:xfrm>
            <a:off x="9550725" y="777668"/>
            <a:ext cx="2564296" cy="745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9A8949-DDB6-B2EA-A882-FF17BA38CD6B}"/>
              </a:ext>
            </a:extLst>
          </p:cNvPr>
          <p:cNvSpPr txBox="1"/>
          <p:nvPr/>
        </p:nvSpPr>
        <p:spPr>
          <a:xfrm>
            <a:off x="3112091" y="30505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 : </a:t>
            </a:r>
            <a:r>
              <a:rPr kumimoji="0" lang="en-US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28</a:t>
            </a:r>
            <a:r>
              <a:rPr kumimoji="0" lang="en-US" altLang="en-US" sz="18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</a:t>
            </a:r>
            <a:r>
              <a:rPr kumimoji="0" lang="en-US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Jul 2026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192996-6412-6E17-C93B-0A1CA51E92A3}"/>
              </a:ext>
            </a:extLst>
          </p:cNvPr>
          <p:cNvGrpSpPr/>
          <p:nvPr/>
        </p:nvGrpSpPr>
        <p:grpSpPr>
          <a:xfrm>
            <a:off x="290312" y="5494253"/>
            <a:ext cx="11460548" cy="759259"/>
            <a:chOff x="304800" y="3825709"/>
            <a:chExt cx="11460548" cy="75925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7D935E3-2B7F-43D6-BE19-93F9BBD007A0}"/>
                </a:ext>
              </a:extLst>
            </p:cNvPr>
            <p:cNvGrpSpPr/>
            <p:nvPr/>
          </p:nvGrpSpPr>
          <p:grpSpPr>
            <a:xfrm>
              <a:off x="304800" y="3831479"/>
              <a:ext cx="1166964" cy="747718"/>
              <a:chOff x="879639" y="3863541"/>
              <a:chExt cx="1166964" cy="747718"/>
            </a:xfrm>
          </p:grpSpPr>
          <p:sp>
            <p:nvSpPr>
              <p:cNvPr id="64" name="object 18">
                <a:extLst>
                  <a:ext uri="{FF2B5EF4-FFF2-40B4-BE49-F238E27FC236}">
                    <a16:creationId xmlns:a16="http://schemas.microsoft.com/office/drawing/2014/main" id="{6B4A8F8A-2757-50DA-A25F-532FD90E3005}"/>
                  </a:ext>
                </a:extLst>
              </p:cNvPr>
              <p:cNvSpPr txBox="1"/>
              <p:nvPr/>
            </p:nvSpPr>
            <p:spPr>
              <a:xfrm>
                <a:off x="879639" y="4457371"/>
                <a:ext cx="1166964" cy="15388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Financial</a:t>
                </a: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 </a:t>
                </a: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Services</a:t>
                </a:r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D63D01F5-49A7-A5CD-6EF8-228DE5E60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100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93121" y="3863541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F2CF3B2-AD1D-4B4C-8156-8CFB0F30DE54}"/>
                </a:ext>
              </a:extLst>
            </p:cNvPr>
            <p:cNvGrpSpPr/>
            <p:nvPr/>
          </p:nvGrpSpPr>
          <p:grpSpPr>
            <a:xfrm>
              <a:off x="2080910" y="3831479"/>
              <a:ext cx="615315" cy="747718"/>
              <a:chOff x="2348782" y="3863541"/>
              <a:chExt cx="615315" cy="747718"/>
            </a:xfrm>
          </p:grpSpPr>
          <p:sp>
            <p:nvSpPr>
              <p:cNvPr id="62" name="object 16">
                <a:extLst>
                  <a:ext uri="{FF2B5EF4-FFF2-40B4-BE49-F238E27FC236}">
                    <a16:creationId xmlns:a16="http://schemas.microsoft.com/office/drawing/2014/main" id="{B9BEB97F-790A-AF4A-CD00-7FD24EDCA8F5}"/>
                  </a:ext>
                </a:extLst>
              </p:cNvPr>
              <p:cNvSpPr txBox="1"/>
              <p:nvPr/>
            </p:nvSpPr>
            <p:spPr>
              <a:xfrm>
                <a:off x="2348782" y="4457371"/>
                <a:ext cx="615315" cy="15388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Insurance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E444797F-3638-6337-4FC9-CCBFA4BD7A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harpenSoften amount="100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386439" y="3863541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3C38E0E-D3DC-5DDE-3F53-69470056CFEC}"/>
                </a:ext>
              </a:extLst>
            </p:cNvPr>
            <p:cNvGrpSpPr/>
            <p:nvPr/>
          </p:nvGrpSpPr>
          <p:grpSpPr>
            <a:xfrm>
              <a:off x="3305371" y="3831479"/>
              <a:ext cx="540000" cy="747718"/>
              <a:chOff x="3504443" y="3863541"/>
              <a:chExt cx="540000" cy="747718"/>
            </a:xfrm>
          </p:grpSpPr>
          <p:sp>
            <p:nvSpPr>
              <p:cNvPr id="60" name="object 17">
                <a:extLst>
                  <a:ext uri="{FF2B5EF4-FFF2-40B4-BE49-F238E27FC236}">
                    <a16:creationId xmlns:a16="http://schemas.microsoft.com/office/drawing/2014/main" id="{36346504-11D6-FE78-6B90-84866E7D2099}"/>
                  </a:ext>
                </a:extLst>
              </p:cNvPr>
              <p:cNvSpPr txBox="1"/>
              <p:nvPr/>
            </p:nvSpPr>
            <p:spPr>
              <a:xfrm>
                <a:off x="3585848" y="4457371"/>
                <a:ext cx="377190" cy="15388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Travel</a:t>
                </a:r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898D14C5-1616-3A05-AED3-5828996D5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sharpenSoften amount="100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04443" y="3863541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9268802-A012-1D5C-7604-25493455FFCC}"/>
                </a:ext>
              </a:extLst>
            </p:cNvPr>
            <p:cNvGrpSpPr/>
            <p:nvPr/>
          </p:nvGrpSpPr>
          <p:grpSpPr>
            <a:xfrm>
              <a:off x="4454517" y="3831479"/>
              <a:ext cx="540000" cy="747718"/>
              <a:chOff x="4660104" y="3863541"/>
              <a:chExt cx="540000" cy="747718"/>
            </a:xfrm>
          </p:grpSpPr>
          <p:sp>
            <p:nvSpPr>
              <p:cNvPr id="58" name="object 15">
                <a:extLst>
                  <a:ext uri="{FF2B5EF4-FFF2-40B4-BE49-F238E27FC236}">
                    <a16:creationId xmlns:a16="http://schemas.microsoft.com/office/drawing/2014/main" id="{BBC34C16-91B4-6860-18EE-68AB39EA6986}"/>
                  </a:ext>
                </a:extLst>
              </p:cNvPr>
              <p:cNvSpPr txBox="1"/>
              <p:nvPr/>
            </p:nvSpPr>
            <p:spPr>
              <a:xfrm>
                <a:off x="4677692" y="4457371"/>
                <a:ext cx="504825" cy="15388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Banking</a:t>
                </a:r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89647DB1-AFDD-D7B9-A7FB-044D2D24A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660104" y="3863541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F996F20-7ED5-CA14-4A36-DB285BC94F98}"/>
                </a:ext>
              </a:extLst>
            </p:cNvPr>
            <p:cNvGrpSpPr/>
            <p:nvPr/>
          </p:nvGrpSpPr>
          <p:grpSpPr>
            <a:xfrm>
              <a:off x="5603663" y="3825709"/>
              <a:ext cx="834649" cy="759259"/>
              <a:chOff x="5715000" y="3864824"/>
              <a:chExt cx="834649" cy="759259"/>
            </a:xfrm>
          </p:grpSpPr>
          <p:sp>
            <p:nvSpPr>
              <p:cNvPr id="56" name="object 19">
                <a:extLst>
                  <a:ext uri="{FF2B5EF4-FFF2-40B4-BE49-F238E27FC236}">
                    <a16:creationId xmlns:a16="http://schemas.microsoft.com/office/drawing/2014/main" id="{6AC8E2B0-0D75-B025-9FCF-86E151ACCC5B}"/>
                  </a:ext>
                </a:extLst>
              </p:cNvPr>
              <p:cNvSpPr txBox="1"/>
              <p:nvPr/>
            </p:nvSpPr>
            <p:spPr>
              <a:xfrm>
                <a:off x="5715000" y="4457371"/>
                <a:ext cx="834649" cy="16671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160780" algn="l"/>
                  </a:tabLst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Manufacturin</a:t>
                </a: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g</a:t>
                </a:r>
                <a:endParaRPr kumimoji="0" sz="1000" b="1" i="0" u="none" strike="noStrike" kern="1200" cap="none" spc="0" normalizeH="0" baseline="-4629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ptos Display" panose="020B0004020202020204" pitchFamily="34" charset="0"/>
                  <a:ea typeface="+mn-ea"/>
                  <a:cs typeface="Calibri"/>
                </a:endParaRPr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3F1003B1-3956-2C93-8AF1-C4B63A70CF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862324" y="3864824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437F2A1-824B-2E43-B5D1-339BF484B1C1}"/>
                </a:ext>
              </a:extLst>
            </p:cNvPr>
            <p:cNvGrpSpPr/>
            <p:nvPr/>
          </p:nvGrpSpPr>
          <p:grpSpPr>
            <a:xfrm>
              <a:off x="7047458" y="3825709"/>
              <a:ext cx="540000" cy="759259"/>
              <a:chOff x="6971426" y="3864824"/>
              <a:chExt cx="540000" cy="759259"/>
            </a:xfrm>
          </p:grpSpPr>
          <p:sp>
            <p:nvSpPr>
              <p:cNvPr id="54" name="object 19">
                <a:extLst>
                  <a:ext uri="{FF2B5EF4-FFF2-40B4-BE49-F238E27FC236}">
                    <a16:creationId xmlns:a16="http://schemas.microsoft.com/office/drawing/2014/main" id="{7CEFF0F5-E72A-5631-ABFE-AEBCD62A6AD7}"/>
                  </a:ext>
                </a:extLst>
              </p:cNvPr>
              <p:cNvSpPr txBox="1"/>
              <p:nvPr/>
            </p:nvSpPr>
            <p:spPr>
              <a:xfrm>
                <a:off x="7073257" y="4457371"/>
                <a:ext cx="336339" cy="16671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160780" algn="l"/>
                  </a:tabLst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Retail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3EEE897C-6613-E83B-B713-CA0EB84A6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971426" y="3864824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A4F729B-1156-7580-0E26-503AAA67CA60}"/>
                </a:ext>
              </a:extLst>
            </p:cNvPr>
            <p:cNvGrpSpPr/>
            <p:nvPr/>
          </p:nvGrpSpPr>
          <p:grpSpPr>
            <a:xfrm>
              <a:off x="8196604" y="3825709"/>
              <a:ext cx="540000" cy="759259"/>
              <a:chOff x="8032211" y="3864824"/>
              <a:chExt cx="540000" cy="759259"/>
            </a:xfrm>
          </p:grpSpPr>
          <p:sp>
            <p:nvSpPr>
              <p:cNvPr id="52" name="object 20">
                <a:extLst>
                  <a:ext uri="{FF2B5EF4-FFF2-40B4-BE49-F238E27FC236}">
                    <a16:creationId xmlns:a16="http://schemas.microsoft.com/office/drawing/2014/main" id="{81616A31-082F-6D42-CEA6-A2A44BDC6C2B}"/>
                  </a:ext>
                </a:extLst>
              </p:cNvPr>
              <p:cNvSpPr txBox="1"/>
              <p:nvPr/>
            </p:nvSpPr>
            <p:spPr>
              <a:xfrm>
                <a:off x="8039004" y="4457371"/>
                <a:ext cx="526415" cy="16671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Telecom</a:t>
                </a:r>
              </a:p>
            </p:txBody>
          </p: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F4E69A7C-0E7E-A8FA-2249-69C0917237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032211" y="3864824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1517C2A-5424-9C23-07D3-295E8113866A}"/>
                </a:ext>
              </a:extLst>
            </p:cNvPr>
            <p:cNvGrpSpPr/>
            <p:nvPr/>
          </p:nvGrpSpPr>
          <p:grpSpPr>
            <a:xfrm>
              <a:off x="9345750" y="3825709"/>
              <a:ext cx="789305" cy="759259"/>
              <a:chOff x="8986491" y="3864824"/>
              <a:chExt cx="789305" cy="759259"/>
            </a:xfrm>
          </p:grpSpPr>
          <p:sp>
            <p:nvSpPr>
              <p:cNvPr id="50" name="object 21">
                <a:extLst>
                  <a:ext uri="{FF2B5EF4-FFF2-40B4-BE49-F238E27FC236}">
                    <a16:creationId xmlns:a16="http://schemas.microsoft.com/office/drawing/2014/main" id="{43856D94-7262-E33D-F350-2E4CF8758957}"/>
                  </a:ext>
                </a:extLst>
              </p:cNvPr>
              <p:cNvSpPr txBox="1"/>
              <p:nvPr/>
            </p:nvSpPr>
            <p:spPr>
              <a:xfrm>
                <a:off x="8986491" y="4457371"/>
                <a:ext cx="789305" cy="16671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Life Sciences</a:t>
                </a: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FCDEFE64-C511-7115-287A-A93C23C9A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111143" y="3864824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7FE88DB-780D-6E55-3931-5262868B3E03}"/>
                </a:ext>
              </a:extLst>
            </p:cNvPr>
            <p:cNvGrpSpPr/>
            <p:nvPr/>
          </p:nvGrpSpPr>
          <p:grpSpPr>
            <a:xfrm>
              <a:off x="10744200" y="3825709"/>
              <a:ext cx="1021148" cy="759259"/>
              <a:chOff x="10197837" y="3864824"/>
              <a:chExt cx="1021148" cy="759259"/>
            </a:xfrm>
          </p:grpSpPr>
          <p:sp>
            <p:nvSpPr>
              <p:cNvPr id="48" name="object 22">
                <a:extLst>
                  <a:ext uri="{FF2B5EF4-FFF2-40B4-BE49-F238E27FC236}">
                    <a16:creationId xmlns:a16="http://schemas.microsoft.com/office/drawing/2014/main" id="{938312E9-D273-F91D-D57C-090A32A8D271}"/>
                  </a:ext>
                </a:extLst>
              </p:cNvPr>
              <p:cNvSpPr txBox="1"/>
              <p:nvPr/>
            </p:nvSpPr>
            <p:spPr>
              <a:xfrm>
                <a:off x="10197837" y="4457371"/>
                <a:ext cx="1021148" cy="16671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0" marR="508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ptos Display" panose="020B0004020202020204" pitchFamily="34" charset="0"/>
                    <a:ea typeface="+mn-ea"/>
                    <a:cs typeface="Calibri"/>
                  </a:rPr>
                  <a:t>Other Businesses</a:t>
                </a:r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239E02BA-2B7E-4DEC-220E-F53666AB5A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BEBA8EAE-BF5A-486C-A8C5-ECC9F3942E4B}">
                    <a14:imgProps xmlns:a14="http://schemas.microsoft.com/office/drawing/2010/main">
                      <a14:imgLayer r:embed="rId22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438411" y="3864824"/>
                <a:ext cx="540000" cy="540000"/>
              </a:xfrm>
              <a:prstGeom prst="rect">
                <a:avLst/>
              </a:prstGeo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92936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BG"/>
          <p:cNvSpPr>
            <a:spLocks noGrp="1"/>
          </p:cNvSpPr>
          <p:nvPr/>
        </p:nvSpPr>
        <p:spPr>
          <a:xfrm>
            <a:off x="393615" y="2396893"/>
            <a:ext cx="11576304" cy="23591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AccentBar"/>
          <p:cNvSpPr>
            <a:spLocks noGrp="1"/>
          </p:cNvSpPr>
          <p:nvPr/>
        </p:nvSpPr>
        <p:spPr>
          <a:xfrm>
            <a:off x="410627" y="1336296"/>
            <a:ext cx="11576304" cy="109728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MainTitle"/>
          <p:cNvSpPr>
            <a:spLocks noGrp="1"/>
          </p:cNvSpPr>
          <p:nvPr/>
        </p:nvSpPr>
        <p:spPr>
          <a:xfrm>
            <a:off x="342360" y="-53269"/>
            <a:ext cx="5058971" cy="118872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4000" b="1" dirty="0" smtClean="0">
                <a:solidFill>
                  <a:srgbClr val="FFFFFF"/>
                </a:solidFill>
                <a:latin typeface="Calibri"/>
              </a:rPr>
              <a:t>AWR Insight Portal</a:t>
            </a:r>
            <a:endParaRPr lang="en-IN" sz="4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Subtitle"/>
          <p:cNvSpPr>
            <a:spLocks noGrp="1"/>
          </p:cNvSpPr>
          <p:nvPr/>
        </p:nvSpPr>
        <p:spPr>
          <a:xfrm>
            <a:off x="6721903" y="132907"/>
            <a:ext cx="5292887" cy="50292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800" b="1" dirty="0">
                <a:solidFill>
                  <a:schemeClr val="bg1"/>
                </a:solidFill>
                <a:latin typeface="Calibri"/>
              </a:rPr>
              <a:t>Oracle AWR &amp; SAR Performance Intelligence Platform</a:t>
            </a:r>
          </a:p>
        </p:txBody>
      </p:sp>
      <p:sp>
        <p:nvSpPr>
          <p:cNvPr id="23" name="Tagline"/>
          <p:cNvSpPr>
            <a:spLocks noGrp="1"/>
          </p:cNvSpPr>
          <p:nvPr/>
        </p:nvSpPr>
        <p:spPr>
          <a:xfrm>
            <a:off x="1097280" y="18628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IN" b="1" dirty="0">
                <a:solidFill>
                  <a:srgbClr val="00B38C"/>
                </a:solidFill>
                <a:latin typeface="Calibri"/>
              </a:rPr>
              <a:t>Automated analysis  ·  AI-powered recommendations  ·  Real-time dashboards</a:t>
            </a:r>
          </a:p>
        </p:txBody>
      </p:sp>
      <p:sp>
        <p:nvSpPr>
          <p:cNvPr id="24" name="Conf"/>
          <p:cNvSpPr>
            <a:spLocks noGrp="1"/>
          </p:cNvSpPr>
          <p:nvPr/>
        </p:nvSpPr>
        <p:spPr>
          <a:xfrm>
            <a:off x="1097280" y="62636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900" dirty="0">
                <a:solidFill>
                  <a:srgbClr val="8B9BB0"/>
                </a:solidFill>
                <a:latin typeface="Calibri"/>
              </a:rPr>
              <a:t>Confidential  —  For Management Review</a:t>
            </a:r>
          </a:p>
        </p:txBody>
      </p:sp>
      <p:sp>
        <p:nvSpPr>
          <p:cNvPr id="30" name="HL0"/>
          <p:cNvSpPr>
            <a:spLocks noGrp="1"/>
          </p:cNvSpPr>
          <p:nvPr/>
        </p:nvSpPr>
        <p:spPr>
          <a:xfrm>
            <a:off x="980320" y="3073870"/>
            <a:ext cx="2377440" cy="822960"/>
          </a:xfrm>
          <a:prstGeom prst="roundRect">
            <a:avLst>
              <a:gd name="adj" fmla="val 4000"/>
            </a:avLst>
          </a:prstGeom>
          <a:solidFill>
            <a:srgbClr val="034EA1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400" b="1" dirty="0">
                <a:solidFill>
                  <a:srgbClr val="FFFFFF"/>
                </a:solidFill>
                <a:latin typeface="Calibri"/>
              </a:rPr>
              <a:t>⚡ Automated AWR Parsing</a:t>
            </a:r>
          </a:p>
        </p:txBody>
      </p:sp>
      <p:sp>
        <p:nvSpPr>
          <p:cNvPr id="31" name="HL1"/>
          <p:cNvSpPr>
            <a:spLocks noGrp="1"/>
          </p:cNvSpPr>
          <p:nvPr/>
        </p:nvSpPr>
        <p:spPr>
          <a:xfrm>
            <a:off x="3586360" y="3073870"/>
            <a:ext cx="2377440" cy="822960"/>
          </a:xfrm>
          <a:prstGeom prst="roundRect">
            <a:avLst>
              <a:gd name="adj" fmla="val 4000"/>
            </a:avLst>
          </a:prstGeom>
          <a:solidFill>
            <a:srgbClr val="00B38C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400" b="1" dirty="0">
                <a:solidFill>
                  <a:srgbClr val="FFFFFF"/>
                </a:solidFill>
                <a:latin typeface="Calibri"/>
              </a:rPr>
              <a:t>🧠 AI Recommendations</a:t>
            </a:r>
          </a:p>
        </p:txBody>
      </p:sp>
      <p:sp>
        <p:nvSpPr>
          <p:cNvPr id="32" name="HL2"/>
          <p:cNvSpPr>
            <a:spLocks noGrp="1"/>
          </p:cNvSpPr>
          <p:nvPr/>
        </p:nvSpPr>
        <p:spPr>
          <a:xfrm>
            <a:off x="6192400" y="3073870"/>
            <a:ext cx="2377440" cy="822960"/>
          </a:xfrm>
          <a:prstGeom prst="roundRect">
            <a:avLst>
              <a:gd name="adj" fmla="val 4000"/>
            </a:avLst>
          </a:prstGeom>
          <a:solidFill>
            <a:srgbClr val="034EA1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400" b="1" dirty="0">
                <a:solidFill>
                  <a:srgbClr val="FFFFFF"/>
                </a:solidFill>
                <a:latin typeface="Calibri"/>
              </a:rPr>
              <a:t>📊 50+ Dashboards</a:t>
            </a:r>
          </a:p>
        </p:txBody>
      </p:sp>
      <p:sp>
        <p:nvSpPr>
          <p:cNvPr id="33" name="HL3"/>
          <p:cNvSpPr>
            <a:spLocks noGrp="1"/>
          </p:cNvSpPr>
          <p:nvPr/>
        </p:nvSpPr>
        <p:spPr>
          <a:xfrm>
            <a:off x="8798440" y="3073870"/>
            <a:ext cx="2377440" cy="822960"/>
          </a:xfrm>
          <a:prstGeom prst="roundRect">
            <a:avLst>
              <a:gd name="adj" fmla="val 4000"/>
            </a:avLst>
          </a:prstGeom>
          <a:solidFill>
            <a:srgbClr val="00B38C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400" b="1" dirty="0">
                <a:solidFill>
                  <a:srgbClr val="FFFFFF"/>
                </a:solidFill>
                <a:latin typeface="Calibri"/>
              </a:rPr>
              <a:t>🔗 AWR + SAR Correlation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/>
        </p:nvSpPr>
        <p:spPr>
          <a:xfrm>
            <a:off x="749808" y="7315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4000" b="1" dirty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20" name="PainCard0"/>
          <p:cNvSpPr>
            <a:spLocks noGrp="1"/>
          </p:cNvSpPr>
          <p:nvPr/>
        </p:nvSpPr>
        <p:spPr>
          <a:xfrm>
            <a:off x="749808" y="822960"/>
            <a:ext cx="54864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PainLeft0"/>
          <p:cNvSpPr>
            <a:spLocks noGrp="1"/>
          </p:cNvSpPr>
          <p:nvPr/>
        </p:nvSpPr>
        <p:spPr>
          <a:xfrm>
            <a:off x="749808" y="822960"/>
            <a:ext cx="274320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ainNum0"/>
          <p:cNvSpPr>
            <a:spLocks noGrp="1"/>
          </p:cNvSpPr>
          <p:nvPr/>
        </p:nvSpPr>
        <p:spPr>
          <a:xfrm>
            <a:off x="758952" y="137160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b="1" dirty="0" smtClean="0">
                <a:solidFill>
                  <a:srgbClr val="FFFFFF"/>
                </a:solidFill>
                <a:latin typeface="Calibri"/>
              </a:rPr>
              <a:t>1</a:t>
            </a:r>
            <a:endParaRPr lang="en-IN"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PainTitle0"/>
          <p:cNvSpPr>
            <a:spLocks noGrp="1"/>
          </p:cNvSpPr>
          <p:nvPr/>
        </p:nvSpPr>
        <p:spPr>
          <a:xfrm>
            <a:off x="1115568" y="960120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Manual &amp; Time-Consuming</a:t>
            </a:r>
          </a:p>
        </p:txBody>
      </p:sp>
      <p:sp>
        <p:nvSpPr>
          <p:cNvPr id="24" name="PainBody0"/>
          <p:cNvSpPr>
            <a:spLocks noGrp="1"/>
          </p:cNvSpPr>
          <p:nvPr/>
        </p:nvSpPr>
        <p:spPr>
          <a:xfrm>
            <a:off x="1115568" y="1353312"/>
            <a:ext cx="4983480" cy="89611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solidFill>
                  <a:srgbClr val="44546A"/>
                </a:solidFill>
                <a:latin typeface="Calibri"/>
              </a:rPr>
              <a:t>Reading Oracle AWR reports manually takes 2–4 hours per incident. One DBA can review only a handful per day.</a:t>
            </a:r>
          </a:p>
        </p:txBody>
      </p:sp>
      <p:sp>
        <p:nvSpPr>
          <p:cNvPr id="30" name="PainCard1"/>
          <p:cNvSpPr>
            <a:spLocks noGrp="1"/>
          </p:cNvSpPr>
          <p:nvPr/>
        </p:nvSpPr>
        <p:spPr>
          <a:xfrm>
            <a:off x="749808" y="2542032"/>
            <a:ext cx="54864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PainLeft1"/>
          <p:cNvSpPr>
            <a:spLocks noGrp="1"/>
          </p:cNvSpPr>
          <p:nvPr/>
        </p:nvSpPr>
        <p:spPr>
          <a:xfrm>
            <a:off x="749808" y="2542032"/>
            <a:ext cx="274320" cy="1554480"/>
          </a:xfrm>
          <a:prstGeom prst="rect">
            <a:avLst/>
          </a:prstGeom>
          <a:solidFill>
            <a:srgbClr val="034EA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PainNum1"/>
          <p:cNvSpPr>
            <a:spLocks noGrp="1"/>
          </p:cNvSpPr>
          <p:nvPr/>
        </p:nvSpPr>
        <p:spPr>
          <a:xfrm>
            <a:off x="758952" y="309067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b="1" dirty="0" smtClean="0">
                <a:solidFill>
                  <a:srgbClr val="FFFFFF"/>
                </a:solidFill>
                <a:latin typeface="Calibri"/>
              </a:rPr>
              <a:t>2</a:t>
            </a:r>
            <a:endParaRPr lang="en-IN"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ainTitle1"/>
          <p:cNvSpPr>
            <a:spLocks noGrp="1"/>
          </p:cNvSpPr>
          <p:nvPr/>
        </p:nvSpPr>
        <p:spPr>
          <a:xfrm>
            <a:off x="1115568" y="2679191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No Historical Trend View</a:t>
            </a:r>
          </a:p>
        </p:txBody>
      </p:sp>
      <p:sp>
        <p:nvSpPr>
          <p:cNvPr id="34" name="PainBody1"/>
          <p:cNvSpPr>
            <a:spLocks noGrp="1"/>
          </p:cNvSpPr>
          <p:nvPr/>
        </p:nvSpPr>
        <p:spPr>
          <a:xfrm>
            <a:off x="1115568" y="3072384"/>
            <a:ext cx="4983480" cy="89611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solidFill>
                  <a:srgbClr val="44546A"/>
                </a:solidFill>
                <a:latin typeface="Calibri"/>
              </a:rPr>
              <a:t>AWR reports are point-in-time snapshots. Comparing across weeks or months requires spreadsheets and guesswor</a:t>
            </a:r>
            <a:r>
              <a:rPr lang="en-IN" sz="1050" dirty="0">
                <a:solidFill>
                  <a:srgbClr val="44546A"/>
                </a:solidFill>
                <a:latin typeface="Calibri"/>
              </a:rPr>
              <a:t>k.</a:t>
            </a:r>
          </a:p>
        </p:txBody>
      </p:sp>
      <p:sp>
        <p:nvSpPr>
          <p:cNvPr id="40" name="PainCard2"/>
          <p:cNvSpPr>
            <a:spLocks noGrp="1"/>
          </p:cNvSpPr>
          <p:nvPr/>
        </p:nvSpPr>
        <p:spPr>
          <a:xfrm>
            <a:off x="749808" y="4261104"/>
            <a:ext cx="54864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PainLeft2"/>
          <p:cNvSpPr>
            <a:spLocks noGrp="1"/>
          </p:cNvSpPr>
          <p:nvPr/>
        </p:nvSpPr>
        <p:spPr>
          <a:xfrm>
            <a:off x="749808" y="4261104"/>
            <a:ext cx="274320" cy="1554480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ainNum2"/>
          <p:cNvSpPr>
            <a:spLocks noGrp="1"/>
          </p:cNvSpPr>
          <p:nvPr/>
        </p:nvSpPr>
        <p:spPr>
          <a:xfrm>
            <a:off x="758952" y="4809744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b="1" dirty="0" smtClean="0">
                <a:solidFill>
                  <a:srgbClr val="FFFFFF"/>
                </a:solidFill>
                <a:latin typeface="Calibri"/>
              </a:rPr>
              <a:t>3</a:t>
            </a:r>
            <a:endParaRPr lang="en-IN"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PainTitle2"/>
          <p:cNvSpPr>
            <a:spLocks noGrp="1"/>
          </p:cNvSpPr>
          <p:nvPr/>
        </p:nvSpPr>
        <p:spPr>
          <a:xfrm>
            <a:off x="1115568" y="4398264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Missed Correlations</a:t>
            </a:r>
          </a:p>
        </p:txBody>
      </p:sp>
      <p:sp>
        <p:nvSpPr>
          <p:cNvPr id="44" name="PainBody2"/>
          <p:cNvSpPr>
            <a:spLocks noGrp="1"/>
          </p:cNvSpPr>
          <p:nvPr/>
        </p:nvSpPr>
        <p:spPr>
          <a:xfrm>
            <a:off x="1115568" y="4791456"/>
            <a:ext cx="4983480" cy="89611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solidFill>
                  <a:srgbClr val="44546A"/>
                </a:solidFill>
                <a:latin typeface="Calibri"/>
              </a:rPr>
              <a:t>Linking wait events to segments, SQL, and OS metrics requires deep expertise and hours of cross-referencing.</a:t>
            </a:r>
          </a:p>
        </p:txBody>
      </p:sp>
      <p:sp>
        <p:nvSpPr>
          <p:cNvPr id="90" name="SolBG"/>
          <p:cNvSpPr>
            <a:spLocks noGrp="1"/>
          </p:cNvSpPr>
          <p:nvPr/>
        </p:nvSpPr>
        <p:spPr>
          <a:xfrm>
            <a:off x="6492240" y="822960"/>
            <a:ext cx="5577840" cy="5166360"/>
          </a:xfrm>
          <a:prstGeom prst="roundRect">
            <a:avLst>
              <a:gd name="adj" fmla="val 4000"/>
            </a:avLst>
          </a:prstGeom>
          <a:solidFill>
            <a:srgbClr val="001F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olAccent"/>
          <p:cNvSpPr>
            <a:spLocks noGrp="1"/>
          </p:cNvSpPr>
          <p:nvPr/>
        </p:nvSpPr>
        <p:spPr>
          <a:xfrm>
            <a:off x="6492240" y="822960"/>
            <a:ext cx="5577840" cy="73152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olTitle"/>
          <p:cNvSpPr>
            <a:spLocks noGrp="1"/>
          </p:cNvSpPr>
          <p:nvPr/>
        </p:nvSpPr>
        <p:spPr>
          <a:xfrm>
            <a:off x="6675120" y="96012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900" dirty="0">
                <a:solidFill>
                  <a:srgbClr val="00B38C"/>
                </a:solidFill>
                <a:latin typeface="Calibri"/>
              </a:rPr>
              <a:t>The Solution</a:t>
            </a:r>
          </a:p>
        </p:txBody>
      </p:sp>
      <p:sp>
        <p:nvSpPr>
          <p:cNvPr id="93" name="SolBody"/>
          <p:cNvSpPr>
            <a:spLocks noGrp="1"/>
          </p:cNvSpPr>
          <p:nvPr/>
        </p:nvSpPr>
        <p:spPr>
          <a:xfrm>
            <a:off x="6675120" y="1481328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solidFill>
                  <a:srgbClr val="F0F4F8"/>
                </a:solidFill>
                <a:latin typeface="Calibri"/>
              </a:rPr>
              <a:t>AWR Insight Portal automates the entire AWR/SAR analysis workflow — from report upload to actionable recommendations — in a single web-based platform accessible to the entire DBA team.</a:t>
            </a:r>
          </a:p>
        </p:txBody>
      </p:sp>
      <p:sp>
        <p:nvSpPr>
          <p:cNvPr id="100" name="Ben0"/>
          <p:cNvSpPr>
            <a:spLocks noGrp="1"/>
          </p:cNvSpPr>
          <p:nvPr/>
        </p:nvSpPr>
        <p:spPr>
          <a:xfrm>
            <a:off x="6675120" y="263347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dirty="0">
                <a:solidFill>
                  <a:srgbClr val="FFFFFF"/>
                </a:solidFill>
                <a:latin typeface="Calibri"/>
              </a:rPr>
              <a:t>⏱  Reduce analysis time from hours to minutes</a:t>
            </a:r>
          </a:p>
        </p:txBody>
      </p:sp>
      <p:sp>
        <p:nvSpPr>
          <p:cNvPr id="101" name="Ben1"/>
          <p:cNvSpPr>
            <a:spLocks noGrp="1"/>
          </p:cNvSpPr>
          <p:nvPr/>
        </p:nvSpPr>
        <p:spPr>
          <a:xfrm>
            <a:off x="6675120" y="316382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dirty="0">
                <a:solidFill>
                  <a:srgbClr val="FFFFFF"/>
                </a:solidFill>
                <a:latin typeface="Calibri"/>
              </a:rPr>
              <a:t>📈  Track performance trends across weeks and months</a:t>
            </a:r>
          </a:p>
        </p:txBody>
      </p:sp>
      <p:sp>
        <p:nvSpPr>
          <p:cNvPr id="102" name="Ben2"/>
          <p:cNvSpPr>
            <a:spLocks noGrp="1"/>
          </p:cNvSpPr>
          <p:nvPr/>
        </p:nvSpPr>
        <p:spPr>
          <a:xfrm>
            <a:off x="6675120" y="3694176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dirty="0">
                <a:solidFill>
                  <a:srgbClr val="FFFFFF"/>
                </a:solidFill>
                <a:latin typeface="Calibri"/>
              </a:rPr>
              <a:t>🔍  Automatically correlate waits, SQL, and segments</a:t>
            </a:r>
          </a:p>
        </p:txBody>
      </p:sp>
      <p:sp>
        <p:nvSpPr>
          <p:cNvPr id="103" name="Ben3"/>
          <p:cNvSpPr>
            <a:spLocks noGrp="1"/>
          </p:cNvSpPr>
          <p:nvPr/>
        </p:nvSpPr>
        <p:spPr>
          <a:xfrm>
            <a:off x="6675120" y="4224527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dirty="0">
                <a:solidFill>
                  <a:srgbClr val="FFFFFF"/>
                </a:solidFill>
                <a:latin typeface="Calibri"/>
              </a:rPr>
              <a:t>🤖  AI-powered recommendations with actionable guidance</a:t>
            </a:r>
          </a:p>
        </p:txBody>
      </p:sp>
      <p:sp>
        <p:nvSpPr>
          <p:cNvPr id="104" name="Ben4"/>
          <p:cNvSpPr>
            <a:spLocks noGrp="1"/>
          </p:cNvSpPr>
          <p:nvPr/>
        </p:nvSpPr>
        <p:spPr>
          <a:xfrm>
            <a:off x="6675120" y="4754879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500" dirty="0">
                <a:solidFill>
                  <a:srgbClr val="FFFFFF"/>
                </a:solidFill>
                <a:latin typeface="Calibri"/>
              </a:rPr>
              <a:t>👥  Team-wide access — no individual AWR expertise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/>
        </p:nvSpPr>
        <p:spPr>
          <a:xfrm>
            <a:off x="749808" y="7315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4000" b="1" dirty="0">
                <a:solidFill>
                  <a:srgbClr val="FFFFFF"/>
                </a:solidFill>
                <a:latin typeface="Calibri"/>
              </a:rPr>
              <a:t>Platform Capabilities</a:t>
            </a:r>
          </a:p>
        </p:txBody>
      </p:sp>
      <p:sp>
        <p:nvSpPr>
          <p:cNvPr id="12" name="Sub"/>
          <p:cNvSpPr>
            <a:spLocks noGrp="1"/>
          </p:cNvSpPr>
          <p:nvPr/>
        </p:nvSpPr>
        <p:spPr>
          <a:xfrm>
            <a:off x="749808" y="65836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dirty="0">
                <a:latin typeface="Calibri"/>
              </a:rPr>
              <a:t>Everything a DBA team needs — in one integrated platform</a:t>
            </a:r>
          </a:p>
        </p:txBody>
      </p:sp>
      <p:sp>
        <p:nvSpPr>
          <p:cNvPr id="20" name="FCard0"/>
          <p:cNvSpPr>
            <a:spLocks noGrp="1"/>
          </p:cNvSpPr>
          <p:nvPr/>
        </p:nvSpPr>
        <p:spPr>
          <a:xfrm>
            <a:off x="409562" y="1051560"/>
            <a:ext cx="36576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FTop0"/>
          <p:cNvSpPr>
            <a:spLocks noGrp="1"/>
          </p:cNvSpPr>
          <p:nvPr/>
        </p:nvSpPr>
        <p:spPr>
          <a:xfrm>
            <a:off x="409562" y="1051560"/>
            <a:ext cx="3657600" cy="64008"/>
          </a:xfrm>
          <a:prstGeom prst="rect">
            <a:avLst/>
          </a:prstGeom>
          <a:solidFill>
            <a:srgbClr val="034EA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FIcon0"/>
          <p:cNvSpPr>
            <a:spLocks noGrp="1"/>
          </p:cNvSpPr>
          <p:nvPr/>
        </p:nvSpPr>
        <p:spPr>
          <a:xfrm>
            <a:off x="519290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2200" dirty="0">
                <a:latin typeface="Calibri"/>
              </a:rPr>
              <a:t>📥</a:t>
            </a:r>
          </a:p>
        </p:txBody>
      </p:sp>
      <p:sp>
        <p:nvSpPr>
          <p:cNvPr id="23" name="FTitle0"/>
          <p:cNvSpPr>
            <a:spLocks noGrp="1"/>
          </p:cNvSpPr>
          <p:nvPr/>
        </p:nvSpPr>
        <p:spPr>
          <a:xfrm>
            <a:off x="1095361" y="1188719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Automated Ingestion</a:t>
            </a:r>
          </a:p>
        </p:txBody>
      </p:sp>
      <p:sp>
        <p:nvSpPr>
          <p:cNvPr id="24" name="FPt0_0"/>
          <p:cNvSpPr>
            <a:spLocks noGrp="1"/>
          </p:cNvSpPr>
          <p:nvPr/>
        </p:nvSpPr>
        <p:spPr>
          <a:xfrm>
            <a:off x="546722" y="170992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 smtClean="0">
                <a:latin typeface="Calibri"/>
              </a:rPr>
              <a:t>▸  AWR HTML report upload &amp; parsing</a:t>
            </a:r>
            <a:endParaRPr lang="en-IN" sz="1300" dirty="0">
              <a:latin typeface="Calibri"/>
            </a:endParaRPr>
          </a:p>
        </p:txBody>
      </p:sp>
      <p:sp>
        <p:nvSpPr>
          <p:cNvPr id="25" name="FPt0_1"/>
          <p:cNvSpPr>
            <a:spLocks noGrp="1"/>
          </p:cNvSpPr>
          <p:nvPr/>
        </p:nvSpPr>
        <p:spPr>
          <a:xfrm>
            <a:off x="546722" y="213969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SAR binary/text report support</a:t>
            </a:r>
          </a:p>
        </p:txBody>
      </p:sp>
      <p:sp>
        <p:nvSpPr>
          <p:cNvPr id="26" name="FPt0_2"/>
          <p:cNvSpPr>
            <a:spLocks noGrp="1"/>
          </p:cNvSpPr>
          <p:nvPr/>
        </p:nvSpPr>
        <p:spPr>
          <a:xfrm>
            <a:off x="546722" y="2569463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Execution plan capture &amp; comparison</a:t>
            </a:r>
          </a:p>
        </p:txBody>
      </p:sp>
      <p:sp>
        <p:nvSpPr>
          <p:cNvPr id="27" name="FPt0_3"/>
          <p:cNvSpPr>
            <a:spLocks noGrp="1"/>
          </p:cNvSpPr>
          <p:nvPr/>
        </p:nvSpPr>
        <p:spPr>
          <a:xfrm>
            <a:off x="546722" y="299923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Oracle object metadata sync</a:t>
            </a:r>
          </a:p>
        </p:txBody>
      </p:sp>
      <p:sp>
        <p:nvSpPr>
          <p:cNvPr id="30" name="FCard1"/>
          <p:cNvSpPr>
            <a:spLocks noGrp="1"/>
          </p:cNvSpPr>
          <p:nvPr/>
        </p:nvSpPr>
        <p:spPr>
          <a:xfrm>
            <a:off x="4250041" y="1118757"/>
            <a:ext cx="4260258" cy="24367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FTop1"/>
          <p:cNvSpPr>
            <a:spLocks noGrp="1"/>
          </p:cNvSpPr>
          <p:nvPr/>
        </p:nvSpPr>
        <p:spPr>
          <a:xfrm>
            <a:off x="4250040" y="1040926"/>
            <a:ext cx="4290457" cy="47210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FIcon1"/>
          <p:cNvSpPr>
            <a:spLocks noGrp="1"/>
          </p:cNvSpPr>
          <p:nvPr/>
        </p:nvSpPr>
        <p:spPr>
          <a:xfrm>
            <a:off x="4359770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2200" dirty="0">
                <a:latin typeface="Calibri"/>
              </a:rPr>
              <a:t>📊</a:t>
            </a:r>
          </a:p>
        </p:txBody>
      </p:sp>
      <p:sp>
        <p:nvSpPr>
          <p:cNvPr id="33" name="FTitle1"/>
          <p:cNvSpPr>
            <a:spLocks noGrp="1"/>
          </p:cNvSpPr>
          <p:nvPr/>
        </p:nvSpPr>
        <p:spPr>
          <a:xfrm>
            <a:off x="4935842" y="1188719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Analytics Dashboards</a:t>
            </a:r>
          </a:p>
        </p:txBody>
      </p:sp>
      <p:sp>
        <p:nvSpPr>
          <p:cNvPr id="34" name="FPt1_0"/>
          <p:cNvSpPr>
            <a:spLocks noGrp="1"/>
          </p:cNvSpPr>
          <p:nvPr/>
        </p:nvSpPr>
        <p:spPr>
          <a:xfrm>
            <a:off x="4387202" y="1709929"/>
            <a:ext cx="3715018" cy="34747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50+ Grafana dashboards across 6 </a:t>
            </a:r>
            <a:r>
              <a:rPr lang="en-IN" sz="1300" dirty="0" smtClean="0">
                <a:latin typeface="Calibri"/>
              </a:rPr>
              <a:t>sections</a:t>
            </a:r>
          </a:p>
          <a:p>
            <a:pPr algn="l"/>
            <a:endParaRPr lang="en-IN" sz="1500" dirty="0">
              <a:latin typeface="Calibri"/>
            </a:endParaRPr>
          </a:p>
          <a:p>
            <a:pPr algn="l"/>
            <a:endParaRPr lang="en-IN" sz="1500" dirty="0">
              <a:latin typeface="Calibri"/>
            </a:endParaRPr>
          </a:p>
        </p:txBody>
      </p:sp>
      <p:sp>
        <p:nvSpPr>
          <p:cNvPr id="35" name="FPt1_1"/>
          <p:cNvSpPr>
            <a:spLocks noGrp="1"/>
          </p:cNvSpPr>
          <p:nvPr/>
        </p:nvSpPr>
        <p:spPr>
          <a:xfrm>
            <a:off x="4387202" y="213969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Wait events · SQL · Segments · I/O</a:t>
            </a:r>
          </a:p>
        </p:txBody>
      </p:sp>
      <p:sp>
        <p:nvSpPr>
          <p:cNvPr id="36" name="FPt1_2"/>
          <p:cNvSpPr>
            <a:spLocks noGrp="1"/>
          </p:cNvSpPr>
          <p:nvPr/>
        </p:nvSpPr>
        <p:spPr>
          <a:xfrm>
            <a:off x="4387202" y="2569463"/>
            <a:ext cx="3989338" cy="29260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AWR Trends </a:t>
            </a:r>
            <a:r>
              <a:rPr lang="en-IN" sz="1300" dirty="0" smtClean="0">
                <a:latin typeface="Calibri"/>
              </a:rPr>
              <a:t>Navigator - </a:t>
            </a:r>
            <a:r>
              <a:rPr lang="en-IN" sz="1300" dirty="0">
                <a:latin typeface="Calibri"/>
              </a:rPr>
              <a:t>snap-level drill-down</a:t>
            </a:r>
          </a:p>
        </p:txBody>
      </p:sp>
      <p:sp>
        <p:nvSpPr>
          <p:cNvPr id="37" name="FPt1_3"/>
          <p:cNvSpPr>
            <a:spLocks noGrp="1"/>
          </p:cNvSpPr>
          <p:nvPr/>
        </p:nvSpPr>
        <p:spPr>
          <a:xfrm>
            <a:off x="4387202" y="299923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Before/after comparison analysis</a:t>
            </a:r>
          </a:p>
        </p:txBody>
      </p:sp>
      <p:sp>
        <p:nvSpPr>
          <p:cNvPr id="40" name="FCard2"/>
          <p:cNvSpPr>
            <a:spLocks noGrp="1"/>
          </p:cNvSpPr>
          <p:nvPr/>
        </p:nvSpPr>
        <p:spPr>
          <a:xfrm>
            <a:off x="8601740" y="1083668"/>
            <a:ext cx="3295240" cy="23974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FTop2"/>
          <p:cNvSpPr>
            <a:spLocks noGrp="1"/>
          </p:cNvSpPr>
          <p:nvPr/>
        </p:nvSpPr>
        <p:spPr>
          <a:xfrm>
            <a:off x="8625552" y="1016684"/>
            <a:ext cx="3271428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FIcon2"/>
          <p:cNvSpPr>
            <a:spLocks noGrp="1"/>
          </p:cNvSpPr>
          <p:nvPr/>
        </p:nvSpPr>
        <p:spPr>
          <a:xfrm>
            <a:off x="8625553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2200" dirty="0">
                <a:latin typeface="Calibri"/>
              </a:rPr>
              <a:t>🧠</a:t>
            </a:r>
          </a:p>
        </p:txBody>
      </p:sp>
      <p:sp>
        <p:nvSpPr>
          <p:cNvPr id="43" name="FTitle2"/>
          <p:cNvSpPr>
            <a:spLocks noGrp="1"/>
          </p:cNvSpPr>
          <p:nvPr/>
        </p:nvSpPr>
        <p:spPr>
          <a:xfrm>
            <a:off x="8925180" y="1188719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Intelligence &amp; Recommendations</a:t>
            </a:r>
          </a:p>
        </p:txBody>
      </p:sp>
      <p:sp>
        <p:nvSpPr>
          <p:cNvPr id="44" name="FPt2_0"/>
          <p:cNvSpPr>
            <a:spLocks noGrp="1"/>
          </p:cNvSpPr>
          <p:nvPr/>
        </p:nvSpPr>
        <p:spPr>
          <a:xfrm>
            <a:off x="8631722" y="170992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Rules engine — 61 automated tuning rules</a:t>
            </a:r>
          </a:p>
        </p:txBody>
      </p:sp>
      <p:sp>
        <p:nvSpPr>
          <p:cNvPr id="45" name="FPt2_1"/>
          <p:cNvSpPr>
            <a:spLocks noGrp="1"/>
          </p:cNvSpPr>
          <p:nvPr/>
        </p:nvSpPr>
        <p:spPr>
          <a:xfrm>
            <a:off x="8610461" y="213969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AI mode — Local LLM or Cloud AI</a:t>
            </a:r>
          </a:p>
        </p:txBody>
      </p:sp>
      <p:sp>
        <p:nvSpPr>
          <p:cNvPr id="46" name="FPt2_2"/>
          <p:cNvSpPr>
            <a:spLocks noGrp="1"/>
          </p:cNvSpPr>
          <p:nvPr/>
        </p:nvSpPr>
        <p:spPr>
          <a:xfrm>
            <a:off x="8610465" y="2569463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Wait→Segment→SQL correlation panels</a:t>
            </a:r>
          </a:p>
        </p:txBody>
      </p:sp>
      <p:sp>
        <p:nvSpPr>
          <p:cNvPr id="47" name="FPt2_3"/>
          <p:cNvSpPr>
            <a:spLocks noGrp="1"/>
          </p:cNvSpPr>
          <p:nvPr/>
        </p:nvSpPr>
        <p:spPr>
          <a:xfrm>
            <a:off x="8610456" y="299923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RAG-scored anomaly detection</a:t>
            </a:r>
          </a:p>
        </p:txBody>
      </p:sp>
      <p:sp>
        <p:nvSpPr>
          <p:cNvPr id="50" name="FCard3"/>
          <p:cNvSpPr>
            <a:spLocks noGrp="1"/>
          </p:cNvSpPr>
          <p:nvPr/>
        </p:nvSpPr>
        <p:spPr>
          <a:xfrm>
            <a:off x="409562" y="3749039"/>
            <a:ext cx="36576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FTop3"/>
          <p:cNvSpPr>
            <a:spLocks noGrp="1"/>
          </p:cNvSpPr>
          <p:nvPr/>
        </p:nvSpPr>
        <p:spPr>
          <a:xfrm>
            <a:off x="409562" y="3749039"/>
            <a:ext cx="36576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FIcon3"/>
          <p:cNvSpPr>
            <a:spLocks noGrp="1"/>
          </p:cNvSpPr>
          <p:nvPr/>
        </p:nvSpPr>
        <p:spPr>
          <a:xfrm>
            <a:off x="519290" y="3858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2200" dirty="0">
                <a:latin typeface="Calibri"/>
              </a:rPr>
              <a:t>🔗</a:t>
            </a:r>
          </a:p>
        </p:txBody>
      </p:sp>
      <p:sp>
        <p:nvSpPr>
          <p:cNvPr id="53" name="FTitle3"/>
          <p:cNvSpPr>
            <a:spLocks noGrp="1"/>
          </p:cNvSpPr>
          <p:nvPr/>
        </p:nvSpPr>
        <p:spPr>
          <a:xfrm>
            <a:off x="1095361" y="3886200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SAR &amp; OS Correlation</a:t>
            </a:r>
          </a:p>
        </p:txBody>
      </p:sp>
      <p:sp>
        <p:nvSpPr>
          <p:cNvPr id="54" name="FPt3_0"/>
          <p:cNvSpPr>
            <a:spLocks noGrp="1"/>
          </p:cNvSpPr>
          <p:nvPr/>
        </p:nvSpPr>
        <p:spPr>
          <a:xfrm>
            <a:off x="546722" y="4407407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AWR + SAR side-by-side analysis</a:t>
            </a:r>
          </a:p>
        </p:txBody>
      </p:sp>
      <p:sp>
        <p:nvSpPr>
          <p:cNvPr id="55" name="FPt3_1"/>
          <p:cNvSpPr>
            <a:spLocks noGrp="1"/>
          </p:cNvSpPr>
          <p:nvPr/>
        </p:nvSpPr>
        <p:spPr>
          <a:xfrm>
            <a:off x="546722" y="4837175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Oracle CPU vs OS CPU correlation</a:t>
            </a:r>
          </a:p>
        </p:txBody>
      </p:sp>
      <p:sp>
        <p:nvSpPr>
          <p:cNvPr id="56" name="FPt3_2"/>
          <p:cNvSpPr>
            <a:spLocks noGrp="1"/>
          </p:cNvSpPr>
          <p:nvPr/>
        </p:nvSpPr>
        <p:spPr>
          <a:xfrm>
            <a:off x="546722" y="526694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Disk I/O: Oracle segments vs OS devices</a:t>
            </a:r>
          </a:p>
        </p:txBody>
      </p:sp>
      <p:sp>
        <p:nvSpPr>
          <p:cNvPr id="57" name="FPt3_3"/>
          <p:cNvSpPr>
            <a:spLocks noGrp="1"/>
          </p:cNvSpPr>
          <p:nvPr/>
        </p:nvSpPr>
        <p:spPr>
          <a:xfrm>
            <a:off x="546722" y="569671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Network &amp; memory correlation</a:t>
            </a:r>
          </a:p>
        </p:txBody>
      </p:sp>
      <p:sp>
        <p:nvSpPr>
          <p:cNvPr id="60" name="FCard4"/>
          <p:cNvSpPr>
            <a:spLocks noGrp="1"/>
          </p:cNvSpPr>
          <p:nvPr/>
        </p:nvSpPr>
        <p:spPr>
          <a:xfrm>
            <a:off x="4250040" y="3749039"/>
            <a:ext cx="4238351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FTop4"/>
          <p:cNvSpPr>
            <a:spLocks noGrp="1"/>
          </p:cNvSpPr>
          <p:nvPr/>
        </p:nvSpPr>
        <p:spPr>
          <a:xfrm flipV="1">
            <a:off x="4250041" y="3675889"/>
            <a:ext cx="4260258" cy="73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FIcon4"/>
          <p:cNvSpPr>
            <a:spLocks noGrp="1"/>
          </p:cNvSpPr>
          <p:nvPr/>
        </p:nvSpPr>
        <p:spPr>
          <a:xfrm>
            <a:off x="4359770" y="3858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2200" dirty="0">
                <a:latin typeface="Calibri"/>
              </a:rPr>
              <a:t>⚙️</a:t>
            </a:r>
          </a:p>
        </p:txBody>
      </p:sp>
      <p:sp>
        <p:nvSpPr>
          <p:cNvPr id="63" name="FTitle4"/>
          <p:cNvSpPr>
            <a:spLocks noGrp="1"/>
          </p:cNvSpPr>
          <p:nvPr/>
        </p:nvSpPr>
        <p:spPr>
          <a:xfrm>
            <a:off x="4935842" y="3886200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Operations &amp; Admin</a:t>
            </a:r>
          </a:p>
        </p:txBody>
      </p:sp>
      <p:sp>
        <p:nvSpPr>
          <p:cNvPr id="64" name="FPt4_0"/>
          <p:cNvSpPr>
            <a:spLocks noGrp="1"/>
          </p:cNvSpPr>
          <p:nvPr/>
        </p:nvSpPr>
        <p:spPr>
          <a:xfrm>
            <a:off x="4387202" y="4407407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Multi-user access with role control</a:t>
            </a:r>
          </a:p>
        </p:txBody>
      </p:sp>
      <p:sp>
        <p:nvSpPr>
          <p:cNvPr id="65" name="FPt4_1"/>
          <p:cNvSpPr>
            <a:spLocks noGrp="1"/>
          </p:cNvSpPr>
          <p:nvPr/>
        </p:nvSpPr>
        <p:spPr>
          <a:xfrm>
            <a:off x="4387202" y="4837175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License management per environment</a:t>
            </a:r>
          </a:p>
        </p:txBody>
      </p:sp>
      <p:sp>
        <p:nvSpPr>
          <p:cNvPr id="66" name="FPt4_2"/>
          <p:cNvSpPr>
            <a:spLocks noGrp="1"/>
          </p:cNvSpPr>
          <p:nvPr/>
        </p:nvSpPr>
        <p:spPr>
          <a:xfrm>
            <a:off x="4387202" y="526694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Queue-based background processing</a:t>
            </a:r>
          </a:p>
        </p:txBody>
      </p:sp>
      <p:sp>
        <p:nvSpPr>
          <p:cNvPr id="67" name="FPt4_3"/>
          <p:cNvSpPr>
            <a:spLocks noGrp="1"/>
          </p:cNvSpPr>
          <p:nvPr/>
        </p:nvSpPr>
        <p:spPr>
          <a:xfrm>
            <a:off x="4387202" y="569671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solidFill>
                  <a:srgbClr val="ED7D31"/>
                </a:solidFill>
                <a:latin typeface="Calibri"/>
              </a:rPr>
              <a:t>▸  </a:t>
            </a:r>
            <a:r>
              <a:rPr lang="en-IN" sz="1300" dirty="0">
                <a:solidFill>
                  <a:srgbClr val="44546A"/>
                </a:solidFill>
                <a:latin typeface="Calibri"/>
              </a:rPr>
              <a:t>Central repository scanner</a:t>
            </a:r>
          </a:p>
        </p:txBody>
      </p:sp>
      <p:sp>
        <p:nvSpPr>
          <p:cNvPr id="70" name="FCard5"/>
          <p:cNvSpPr>
            <a:spLocks noGrp="1"/>
          </p:cNvSpPr>
          <p:nvPr/>
        </p:nvSpPr>
        <p:spPr>
          <a:xfrm>
            <a:off x="8625552" y="3749039"/>
            <a:ext cx="3271427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FTop5"/>
          <p:cNvSpPr>
            <a:spLocks noGrp="1"/>
          </p:cNvSpPr>
          <p:nvPr/>
        </p:nvSpPr>
        <p:spPr>
          <a:xfrm>
            <a:off x="8601740" y="3694176"/>
            <a:ext cx="3295240" cy="457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FIcon5"/>
          <p:cNvSpPr>
            <a:spLocks noGrp="1"/>
          </p:cNvSpPr>
          <p:nvPr/>
        </p:nvSpPr>
        <p:spPr>
          <a:xfrm>
            <a:off x="8540498" y="3858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2200" dirty="0">
                <a:latin typeface="Calibri"/>
              </a:rPr>
              <a:t>🚨</a:t>
            </a:r>
          </a:p>
        </p:txBody>
      </p:sp>
      <p:sp>
        <p:nvSpPr>
          <p:cNvPr id="73" name="FTitle5"/>
          <p:cNvSpPr>
            <a:spLocks noGrp="1"/>
          </p:cNvSpPr>
          <p:nvPr/>
        </p:nvSpPr>
        <p:spPr>
          <a:xfrm>
            <a:off x="8925180" y="3886200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Anomaly Detection</a:t>
            </a:r>
          </a:p>
        </p:txBody>
      </p:sp>
      <p:sp>
        <p:nvSpPr>
          <p:cNvPr id="74" name="FPt5_0"/>
          <p:cNvSpPr>
            <a:spLocks noGrp="1"/>
          </p:cNvSpPr>
          <p:nvPr/>
        </p:nvSpPr>
        <p:spPr>
          <a:xfrm>
            <a:off x="8642351" y="4407407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Statistical baseline per metric</a:t>
            </a:r>
          </a:p>
        </p:txBody>
      </p:sp>
      <p:sp>
        <p:nvSpPr>
          <p:cNvPr id="75" name="FPt5_1"/>
          <p:cNvSpPr>
            <a:spLocks noGrp="1"/>
          </p:cNvSpPr>
          <p:nvPr/>
        </p:nvSpPr>
        <p:spPr>
          <a:xfrm>
            <a:off x="8642360" y="4837175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Critical / Alert / Warning tiers</a:t>
            </a:r>
          </a:p>
        </p:txBody>
      </p:sp>
      <p:sp>
        <p:nvSpPr>
          <p:cNvPr id="76" name="FPt5_2"/>
          <p:cNvSpPr>
            <a:spLocks noGrp="1"/>
          </p:cNvSpPr>
          <p:nvPr/>
        </p:nvSpPr>
        <p:spPr>
          <a:xfrm>
            <a:off x="8631724" y="526694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AWR snap-range and SAR date filters</a:t>
            </a:r>
          </a:p>
        </p:txBody>
      </p:sp>
      <p:sp>
        <p:nvSpPr>
          <p:cNvPr id="77" name="FPt5_3"/>
          <p:cNvSpPr>
            <a:spLocks noGrp="1"/>
          </p:cNvSpPr>
          <p:nvPr/>
        </p:nvSpPr>
        <p:spPr>
          <a:xfrm>
            <a:off x="8642357" y="569671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▸  Timeline and breakdown views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/>
        </p:nvSpPr>
        <p:spPr>
          <a:xfrm>
            <a:off x="749808" y="7315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4000" b="1" dirty="0">
                <a:solidFill>
                  <a:srgbClr val="FFFFFF"/>
                </a:solidFill>
                <a:latin typeface="Calibri"/>
              </a:rPr>
              <a:t>Benefits to the DBA Team</a:t>
            </a:r>
          </a:p>
        </p:txBody>
      </p:sp>
      <p:sp>
        <p:nvSpPr>
          <p:cNvPr id="12" name="Sub"/>
          <p:cNvSpPr>
            <a:spLocks noGrp="1"/>
          </p:cNvSpPr>
          <p:nvPr/>
        </p:nvSpPr>
        <p:spPr>
          <a:xfrm>
            <a:off x="749808" y="65836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dirty="0">
                <a:latin typeface="Calibri"/>
              </a:rPr>
              <a:t>Measurable impact from day one</a:t>
            </a:r>
          </a:p>
        </p:txBody>
      </p:sp>
      <p:sp>
        <p:nvSpPr>
          <p:cNvPr id="20" name="KpiCard0"/>
          <p:cNvSpPr>
            <a:spLocks noGrp="1"/>
          </p:cNvSpPr>
          <p:nvPr/>
        </p:nvSpPr>
        <p:spPr>
          <a:xfrm>
            <a:off x="749808" y="1024128"/>
            <a:ext cx="263347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KpiTop0"/>
          <p:cNvSpPr>
            <a:spLocks noGrp="1"/>
          </p:cNvSpPr>
          <p:nvPr/>
        </p:nvSpPr>
        <p:spPr>
          <a:xfrm>
            <a:off x="749808" y="1024128"/>
            <a:ext cx="2633472" cy="64008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KpiVal0"/>
          <p:cNvSpPr>
            <a:spLocks noGrp="1"/>
          </p:cNvSpPr>
          <p:nvPr/>
        </p:nvSpPr>
        <p:spPr>
          <a:xfrm>
            <a:off x="749808" y="1143000"/>
            <a:ext cx="2633472" cy="65836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3600" dirty="0">
                <a:solidFill>
                  <a:srgbClr val="00B38C"/>
                </a:solidFill>
                <a:latin typeface="Calibri"/>
              </a:rPr>
              <a:t>~80%</a:t>
            </a:r>
          </a:p>
        </p:txBody>
      </p:sp>
      <p:sp>
        <p:nvSpPr>
          <p:cNvPr id="23" name="KpiLbl0"/>
          <p:cNvSpPr>
            <a:spLocks noGrp="1"/>
          </p:cNvSpPr>
          <p:nvPr/>
        </p:nvSpPr>
        <p:spPr>
          <a:xfrm>
            <a:off x="749808" y="1810512"/>
            <a:ext cx="2633472" cy="54864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200" dirty="0">
                <a:latin typeface="Calibri"/>
              </a:rPr>
              <a:t>Reduction in manual
AWR analysis time</a:t>
            </a:r>
          </a:p>
        </p:txBody>
      </p:sp>
      <p:sp>
        <p:nvSpPr>
          <p:cNvPr id="30" name="KpiCard1"/>
          <p:cNvSpPr>
            <a:spLocks noGrp="1"/>
          </p:cNvSpPr>
          <p:nvPr/>
        </p:nvSpPr>
        <p:spPr>
          <a:xfrm>
            <a:off x="3538727" y="1024128"/>
            <a:ext cx="263347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KpiTop1"/>
          <p:cNvSpPr>
            <a:spLocks noGrp="1"/>
          </p:cNvSpPr>
          <p:nvPr/>
        </p:nvSpPr>
        <p:spPr>
          <a:xfrm>
            <a:off x="3538727" y="1024128"/>
            <a:ext cx="2633472" cy="64008"/>
          </a:xfrm>
          <a:prstGeom prst="rect">
            <a:avLst/>
          </a:prstGeom>
          <a:solidFill>
            <a:srgbClr val="034EA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KpiVal1"/>
          <p:cNvSpPr>
            <a:spLocks noGrp="1"/>
          </p:cNvSpPr>
          <p:nvPr/>
        </p:nvSpPr>
        <p:spPr>
          <a:xfrm>
            <a:off x="3538727" y="1143000"/>
            <a:ext cx="2633472" cy="65836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3600" dirty="0">
                <a:solidFill>
                  <a:srgbClr val="034EA1"/>
                </a:solidFill>
                <a:latin typeface="Calibri"/>
              </a:rPr>
              <a:t>50+</a:t>
            </a:r>
          </a:p>
        </p:txBody>
      </p:sp>
      <p:sp>
        <p:nvSpPr>
          <p:cNvPr id="33" name="KpiLbl1"/>
          <p:cNvSpPr>
            <a:spLocks noGrp="1"/>
          </p:cNvSpPr>
          <p:nvPr/>
        </p:nvSpPr>
        <p:spPr>
          <a:xfrm>
            <a:off x="3538727" y="1810512"/>
            <a:ext cx="2633472" cy="54864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200" dirty="0">
                <a:latin typeface="Calibri"/>
              </a:rPr>
              <a:t>Pre-built dashboards
ready to use</a:t>
            </a:r>
          </a:p>
        </p:txBody>
      </p:sp>
      <p:sp>
        <p:nvSpPr>
          <p:cNvPr id="40" name="KpiCard2"/>
          <p:cNvSpPr>
            <a:spLocks noGrp="1"/>
          </p:cNvSpPr>
          <p:nvPr/>
        </p:nvSpPr>
        <p:spPr>
          <a:xfrm>
            <a:off x="6327648" y="1024128"/>
            <a:ext cx="263347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KpiTop2"/>
          <p:cNvSpPr>
            <a:spLocks noGrp="1"/>
          </p:cNvSpPr>
          <p:nvPr/>
        </p:nvSpPr>
        <p:spPr>
          <a:xfrm>
            <a:off x="6327648" y="1024128"/>
            <a:ext cx="263347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KpiVal2"/>
          <p:cNvSpPr>
            <a:spLocks noGrp="1"/>
          </p:cNvSpPr>
          <p:nvPr/>
        </p:nvSpPr>
        <p:spPr>
          <a:xfrm>
            <a:off x="6327648" y="1143000"/>
            <a:ext cx="2633472" cy="65836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3600" dirty="0">
                <a:solidFill>
                  <a:srgbClr val="FFC000"/>
                </a:solidFill>
                <a:latin typeface="Calibri"/>
              </a:rPr>
              <a:t>61</a:t>
            </a:r>
          </a:p>
        </p:txBody>
      </p:sp>
      <p:sp>
        <p:nvSpPr>
          <p:cNvPr id="43" name="KpiLbl2"/>
          <p:cNvSpPr>
            <a:spLocks noGrp="1"/>
          </p:cNvSpPr>
          <p:nvPr/>
        </p:nvSpPr>
        <p:spPr>
          <a:xfrm>
            <a:off x="6327648" y="1810512"/>
            <a:ext cx="2633472" cy="54864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200" dirty="0">
                <a:latin typeface="Calibri"/>
              </a:rPr>
              <a:t>Automated tuning rules
applied per report</a:t>
            </a:r>
          </a:p>
        </p:txBody>
      </p:sp>
      <p:sp>
        <p:nvSpPr>
          <p:cNvPr id="50" name="KpiCard3"/>
          <p:cNvSpPr>
            <a:spLocks noGrp="1"/>
          </p:cNvSpPr>
          <p:nvPr/>
        </p:nvSpPr>
        <p:spPr>
          <a:xfrm>
            <a:off x="9116567" y="1024128"/>
            <a:ext cx="263347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KpiTop3"/>
          <p:cNvSpPr>
            <a:spLocks noGrp="1"/>
          </p:cNvSpPr>
          <p:nvPr/>
        </p:nvSpPr>
        <p:spPr>
          <a:xfrm>
            <a:off x="9116567" y="1024128"/>
            <a:ext cx="2633472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KpiVal3"/>
          <p:cNvSpPr>
            <a:spLocks noGrp="1"/>
          </p:cNvSpPr>
          <p:nvPr/>
        </p:nvSpPr>
        <p:spPr>
          <a:xfrm>
            <a:off x="9116567" y="1143000"/>
            <a:ext cx="2633472" cy="65836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3600" dirty="0">
                <a:solidFill>
                  <a:srgbClr val="7B2FBE"/>
                </a:solidFill>
                <a:latin typeface="Calibri"/>
              </a:rPr>
              <a:t>24/7</a:t>
            </a:r>
          </a:p>
        </p:txBody>
      </p:sp>
      <p:sp>
        <p:nvSpPr>
          <p:cNvPr id="53" name="KpiLbl3"/>
          <p:cNvSpPr>
            <a:spLocks noGrp="1"/>
          </p:cNvSpPr>
          <p:nvPr/>
        </p:nvSpPr>
        <p:spPr>
          <a:xfrm>
            <a:off x="9116567" y="1810512"/>
            <a:ext cx="2633472" cy="54864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200" dirty="0">
                <a:latin typeface="Calibri"/>
              </a:rPr>
              <a:t>Historical data always
available</a:t>
            </a:r>
          </a:p>
        </p:txBody>
      </p:sp>
      <p:sp>
        <p:nvSpPr>
          <p:cNvPr id="60" name="BenCard0"/>
          <p:cNvSpPr>
            <a:spLocks noGrp="1"/>
          </p:cNvSpPr>
          <p:nvPr/>
        </p:nvSpPr>
        <p:spPr>
          <a:xfrm>
            <a:off x="749808" y="260604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BenTop0"/>
          <p:cNvSpPr>
            <a:spLocks noGrp="1"/>
          </p:cNvSpPr>
          <p:nvPr/>
        </p:nvSpPr>
        <p:spPr>
          <a:xfrm>
            <a:off x="749808" y="2606040"/>
            <a:ext cx="3657600" cy="64008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BenTitle0"/>
          <p:cNvSpPr>
            <a:spLocks noGrp="1"/>
          </p:cNvSpPr>
          <p:nvPr/>
        </p:nvSpPr>
        <p:spPr>
          <a:xfrm>
            <a:off x="886968" y="26974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dirty="0">
                <a:solidFill>
                  <a:srgbClr val="001F5F"/>
                </a:solidFill>
                <a:latin typeface="Calibri"/>
              </a:rPr>
              <a:t>🎯 For the DBA</a:t>
            </a:r>
          </a:p>
        </p:txBody>
      </p:sp>
      <p:sp>
        <p:nvSpPr>
          <p:cNvPr id="63" name="BenPt0_0"/>
          <p:cNvSpPr>
            <a:spLocks noGrp="1"/>
          </p:cNvSpPr>
          <p:nvPr/>
        </p:nvSpPr>
        <p:spPr>
          <a:xfrm>
            <a:off x="886968" y="318211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950" dirty="0">
                <a:solidFill>
                  <a:srgbClr val="00B38C"/>
                </a:solidFill>
                <a:latin typeface="Calibri"/>
              </a:rPr>
              <a:t>▸  </a:t>
            </a:r>
            <a:r>
              <a:rPr lang="en-IN" sz="1500" dirty="0">
                <a:latin typeface="Calibri"/>
              </a:rPr>
              <a:t>Immediate visibility into top wait events and hot segments</a:t>
            </a:r>
          </a:p>
        </p:txBody>
      </p:sp>
      <p:sp>
        <p:nvSpPr>
          <p:cNvPr id="64" name="BenPt0_1"/>
          <p:cNvSpPr>
            <a:spLocks noGrp="1"/>
          </p:cNvSpPr>
          <p:nvPr/>
        </p:nvSpPr>
        <p:spPr>
          <a:xfrm>
            <a:off x="886968" y="372160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Pre-built correlation panels — no manual cross-referencing</a:t>
            </a:r>
          </a:p>
        </p:txBody>
      </p:sp>
      <p:sp>
        <p:nvSpPr>
          <p:cNvPr id="65" name="BenPt0_2"/>
          <p:cNvSpPr>
            <a:spLocks noGrp="1"/>
          </p:cNvSpPr>
          <p:nvPr/>
        </p:nvSpPr>
        <p:spPr>
          <a:xfrm>
            <a:off x="886968" y="426110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Snap-level drill-down across 50+ metrics</a:t>
            </a:r>
          </a:p>
        </p:txBody>
      </p:sp>
      <p:sp>
        <p:nvSpPr>
          <p:cNvPr id="66" name="BenPt0_3"/>
          <p:cNvSpPr>
            <a:spLocks noGrp="1"/>
          </p:cNvSpPr>
          <p:nvPr/>
        </p:nvSpPr>
        <p:spPr>
          <a:xfrm>
            <a:off x="886968" y="480060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AI recommendations with actionable guidance</a:t>
            </a:r>
          </a:p>
        </p:txBody>
      </p:sp>
      <p:sp>
        <p:nvSpPr>
          <p:cNvPr id="67" name="BenPt0_4"/>
          <p:cNvSpPr>
            <a:spLocks noGrp="1"/>
          </p:cNvSpPr>
          <p:nvPr/>
        </p:nvSpPr>
        <p:spPr>
          <a:xfrm>
            <a:off x="886968" y="534009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Anomaly alerts with statistical baseline comparison</a:t>
            </a:r>
          </a:p>
        </p:txBody>
      </p:sp>
      <p:sp>
        <p:nvSpPr>
          <p:cNvPr id="80" name="BenCard1"/>
          <p:cNvSpPr>
            <a:spLocks noGrp="1"/>
          </p:cNvSpPr>
          <p:nvPr/>
        </p:nvSpPr>
        <p:spPr>
          <a:xfrm>
            <a:off x="4590288" y="260604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BenTop1"/>
          <p:cNvSpPr>
            <a:spLocks noGrp="1"/>
          </p:cNvSpPr>
          <p:nvPr/>
        </p:nvSpPr>
        <p:spPr>
          <a:xfrm>
            <a:off x="4590288" y="2606040"/>
            <a:ext cx="3657600" cy="64008"/>
          </a:xfrm>
          <a:prstGeom prst="rect">
            <a:avLst/>
          </a:prstGeom>
          <a:solidFill>
            <a:srgbClr val="034EA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BenTitle1"/>
          <p:cNvSpPr>
            <a:spLocks noGrp="1"/>
          </p:cNvSpPr>
          <p:nvPr/>
        </p:nvSpPr>
        <p:spPr>
          <a:xfrm>
            <a:off x="4727448" y="26974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dirty="0">
                <a:solidFill>
                  <a:srgbClr val="001F5F"/>
                </a:solidFill>
                <a:latin typeface="Calibri"/>
              </a:rPr>
              <a:t>🏢 For the Organisation</a:t>
            </a:r>
          </a:p>
        </p:txBody>
      </p:sp>
      <p:sp>
        <p:nvSpPr>
          <p:cNvPr id="83" name="BenPt1_0"/>
          <p:cNvSpPr>
            <a:spLocks noGrp="1"/>
          </p:cNvSpPr>
          <p:nvPr/>
        </p:nvSpPr>
        <p:spPr>
          <a:xfrm>
            <a:off x="4727448" y="318211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Consistent, repeatable analysis process across the team</a:t>
            </a:r>
          </a:p>
        </p:txBody>
      </p:sp>
      <p:sp>
        <p:nvSpPr>
          <p:cNvPr id="84" name="BenPt1_1"/>
          <p:cNvSpPr>
            <a:spLocks noGrp="1"/>
          </p:cNvSpPr>
          <p:nvPr/>
        </p:nvSpPr>
        <p:spPr>
          <a:xfrm>
            <a:off x="4727448" y="372160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Knowledge retained in the system — not in one DBA's head</a:t>
            </a:r>
          </a:p>
        </p:txBody>
      </p:sp>
      <p:sp>
        <p:nvSpPr>
          <p:cNvPr id="85" name="BenPt1_2"/>
          <p:cNvSpPr>
            <a:spLocks noGrp="1"/>
          </p:cNvSpPr>
          <p:nvPr/>
        </p:nvSpPr>
        <p:spPr>
          <a:xfrm>
            <a:off x="4727448" y="426110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Before/after comparison validates tuning effectiveness</a:t>
            </a:r>
          </a:p>
        </p:txBody>
      </p:sp>
      <p:sp>
        <p:nvSpPr>
          <p:cNvPr id="86" name="BenPt1_3"/>
          <p:cNvSpPr>
            <a:spLocks noGrp="1"/>
          </p:cNvSpPr>
          <p:nvPr/>
        </p:nvSpPr>
        <p:spPr>
          <a:xfrm>
            <a:off x="4727448" y="480060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Multi-database, multi-instance support from one platform</a:t>
            </a:r>
          </a:p>
        </p:txBody>
      </p:sp>
      <p:sp>
        <p:nvSpPr>
          <p:cNvPr id="87" name="BenPt1_4"/>
          <p:cNvSpPr>
            <a:spLocks noGrp="1"/>
          </p:cNvSpPr>
          <p:nvPr/>
        </p:nvSpPr>
        <p:spPr>
          <a:xfrm>
            <a:off x="4727448" y="534009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Audit trail of all uploaded reports and recommendations</a:t>
            </a:r>
          </a:p>
        </p:txBody>
      </p:sp>
      <p:sp>
        <p:nvSpPr>
          <p:cNvPr id="100" name="BenCard2"/>
          <p:cNvSpPr>
            <a:spLocks noGrp="1"/>
          </p:cNvSpPr>
          <p:nvPr/>
        </p:nvSpPr>
        <p:spPr>
          <a:xfrm>
            <a:off x="8430768" y="260604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BenTop2"/>
          <p:cNvSpPr>
            <a:spLocks noGrp="1"/>
          </p:cNvSpPr>
          <p:nvPr/>
        </p:nvSpPr>
        <p:spPr>
          <a:xfrm>
            <a:off x="8430768" y="2606040"/>
            <a:ext cx="36576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BenTitle2"/>
          <p:cNvSpPr>
            <a:spLocks noGrp="1"/>
          </p:cNvSpPr>
          <p:nvPr/>
        </p:nvSpPr>
        <p:spPr>
          <a:xfrm>
            <a:off x="8567928" y="26974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dirty="0">
                <a:solidFill>
                  <a:srgbClr val="001F5F"/>
                </a:solidFill>
                <a:latin typeface="Calibri"/>
              </a:rPr>
              <a:t>💼 For Management</a:t>
            </a:r>
          </a:p>
        </p:txBody>
      </p:sp>
      <p:sp>
        <p:nvSpPr>
          <p:cNvPr id="103" name="BenPt2_0"/>
          <p:cNvSpPr>
            <a:spLocks noGrp="1"/>
          </p:cNvSpPr>
          <p:nvPr/>
        </p:nvSpPr>
        <p:spPr>
          <a:xfrm>
            <a:off x="8567928" y="318211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DBA team capacity freed for higher-value work</a:t>
            </a:r>
          </a:p>
        </p:txBody>
      </p:sp>
      <p:sp>
        <p:nvSpPr>
          <p:cNvPr id="104" name="BenPt2_1"/>
          <p:cNvSpPr>
            <a:spLocks noGrp="1"/>
          </p:cNvSpPr>
          <p:nvPr/>
        </p:nvSpPr>
        <p:spPr>
          <a:xfrm>
            <a:off x="8567928" y="3721608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Performance issues identified proactively — not reactively</a:t>
            </a:r>
          </a:p>
        </p:txBody>
      </p:sp>
      <p:sp>
        <p:nvSpPr>
          <p:cNvPr id="105" name="BenPt2_2"/>
          <p:cNvSpPr>
            <a:spLocks noGrp="1"/>
          </p:cNvSpPr>
          <p:nvPr/>
        </p:nvSpPr>
        <p:spPr>
          <a:xfrm>
            <a:off x="8567928" y="4261104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Standardised reporting across all production databases</a:t>
            </a:r>
          </a:p>
        </p:txBody>
      </p:sp>
      <p:sp>
        <p:nvSpPr>
          <p:cNvPr id="106" name="BenPt2_3"/>
          <p:cNvSpPr>
            <a:spLocks noGrp="1"/>
          </p:cNvSpPr>
          <p:nvPr/>
        </p:nvSpPr>
        <p:spPr>
          <a:xfrm>
            <a:off x="8567928" y="4800600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Web-based — no client software, accessible from any browser</a:t>
            </a:r>
          </a:p>
        </p:txBody>
      </p:sp>
      <p:sp>
        <p:nvSpPr>
          <p:cNvPr id="107" name="BenPt2_4"/>
          <p:cNvSpPr>
            <a:spLocks noGrp="1"/>
          </p:cNvSpPr>
          <p:nvPr/>
        </p:nvSpPr>
        <p:spPr>
          <a:xfrm>
            <a:off x="8567928" y="5340096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500" dirty="0">
                <a:latin typeface="Calibri"/>
              </a:rPr>
              <a:t>▸  Built-in license control and user access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/>
        </p:nvSpPr>
        <p:spPr>
          <a:xfrm>
            <a:off x="749808" y="7315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4000" b="1" dirty="0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12" name="Sub"/>
          <p:cNvSpPr>
            <a:spLocks noGrp="1"/>
          </p:cNvSpPr>
          <p:nvPr/>
        </p:nvSpPr>
        <p:spPr>
          <a:xfrm>
            <a:off x="6400800" y="156727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chemeClr val="bg1"/>
                </a:solidFill>
                <a:latin typeface="Calibri"/>
              </a:rPr>
              <a:t>Lightweight Windows deployment — no cloud dependency</a:t>
            </a:r>
          </a:p>
        </p:txBody>
      </p:sp>
      <p:sp>
        <p:nvSpPr>
          <p:cNvPr id="20" name="LayBG0"/>
          <p:cNvSpPr>
            <a:spLocks noGrp="1"/>
          </p:cNvSpPr>
          <p:nvPr/>
        </p:nvSpPr>
        <p:spPr>
          <a:xfrm>
            <a:off x="760441" y="715776"/>
            <a:ext cx="2724912" cy="5440680"/>
          </a:xfrm>
          <a:prstGeom prst="roundRect">
            <a:avLst>
              <a:gd name="adj" fmla="val 4000"/>
            </a:avLst>
          </a:prstGeom>
          <a:solidFill>
            <a:srgbClr val="D6E4F7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ayTop0"/>
          <p:cNvSpPr>
            <a:spLocks noGrp="1"/>
          </p:cNvSpPr>
          <p:nvPr/>
        </p:nvSpPr>
        <p:spPr>
          <a:xfrm>
            <a:off x="749808" y="715776"/>
            <a:ext cx="2724912" cy="64008"/>
          </a:xfrm>
          <a:prstGeom prst="rect">
            <a:avLst/>
          </a:prstGeom>
          <a:solidFill>
            <a:srgbClr val="034EA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yLbl0"/>
          <p:cNvSpPr>
            <a:spLocks noGrp="1"/>
          </p:cNvSpPr>
          <p:nvPr/>
        </p:nvSpPr>
        <p:spPr>
          <a:xfrm>
            <a:off x="749808" y="807216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950" dirty="0">
                <a:solidFill>
                  <a:srgbClr val="034EA1"/>
                </a:solidFill>
                <a:latin typeface="Calibri"/>
              </a:rPr>
              <a:t>DATA SOURCES</a:t>
            </a:r>
          </a:p>
        </p:txBody>
      </p:sp>
      <p:sp>
        <p:nvSpPr>
          <p:cNvPr id="23" name="LayItem0_0"/>
          <p:cNvSpPr>
            <a:spLocks noGrp="1"/>
          </p:cNvSpPr>
          <p:nvPr/>
        </p:nvSpPr>
        <p:spPr>
          <a:xfrm>
            <a:off x="886968" y="1291848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34EA1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Oracle AWR HTML Reports</a:t>
            </a:r>
          </a:p>
        </p:txBody>
      </p:sp>
      <p:sp>
        <p:nvSpPr>
          <p:cNvPr id="24" name="LayItem0_1"/>
          <p:cNvSpPr>
            <a:spLocks noGrp="1"/>
          </p:cNvSpPr>
          <p:nvPr/>
        </p:nvSpPr>
        <p:spPr>
          <a:xfrm>
            <a:off x="886968" y="2407416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34EA1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Linux SAR Binary/Text Files</a:t>
            </a:r>
          </a:p>
        </p:txBody>
      </p:sp>
      <p:sp>
        <p:nvSpPr>
          <p:cNvPr id="25" name="LayItem0_2"/>
          <p:cNvSpPr>
            <a:spLocks noGrp="1"/>
          </p:cNvSpPr>
          <p:nvPr/>
        </p:nvSpPr>
        <p:spPr>
          <a:xfrm>
            <a:off x="886968" y="3522983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34EA1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Oracle Object Metadata</a:t>
            </a:r>
          </a:p>
        </p:txBody>
      </p:sp>
      <p:sp>
        <p:nvSpPr>
          <p:cNvPr id="26" name="LayItem0_3"/>
          <p:cNvSpPr>
            <a:spLocks noGrp="1"/>
          </p:cNvSpPr>
          <p:nvPr/>
        </p:nvSpPr>
        <p:spPr>
          <a:xfrm>
            <a:off x="886968" y="4638552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34EA1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SQL Execution Plans</a:t>
            </a:r>
          </a:p>
        </p:txBody>
      </p:sp>
      <p:sp>
        <p:nvSpPr>
          <p:cNvPr id="40" name="LayBG1"/>
          <p:cNvSpPr>
            <a:spLocks noGrp="1"/>
          </p:cNvSpPr>
          <p:nvPr/>
        </p:nvSpPr>
        <p:spPr>
          <a:xfrm>
            <a:off x="3602736" y="715776"/>
            <a:ext cx="2724912" cy="5440680"/>
          </a:xfrm>
          <a:prstGeom prst="roundRect">
            <a:avLst>
              <a:gd name="adj" fmla="val 4000"/>
            </a:avLst>
          </a:prstGeom>
          <a:solidFill>
            <a:srgbClr val="D6F5EE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LayTop1"/>
          <p:cNvSpPr>
            <a:spLocks noGrp="1"/>
          </p:cNvSpPr>
          <p:nvPr/>
        </p:nvSpPr>
        <p:spPr>
          <a:xfrm>
            <a:off x="3602736" y="715776"/>
            <a:ext cx="2724912" cy="64008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yLbl1"/>
          <p:cNvSpPr>
            <a:spLocks noGrp="1"/>
          </p:cNvSpPr>
          <p:nvPr/>
        </p:nvSpPr>
        <p:spPr>
          <a:xfrm>
            <a:off x="3602736" y="807216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950" dirty="0">
                <a:solidFill>
                  <a:srgbClr val="00B38C"/>
                </a:solidFill>
                <a:latin typeface="Calibri"/>
              </a:rPr>
              <a:t>PROCESSING ENGINE</a:t>
            </a:r>
          </a:p>
        </p:txBody>
      </p:sp>
      <p:sp>
        <p:nvSpPr>
          <p:cNvPr id="43" name="LayItem1_0"/>
          <p:cNvSpPr>
            <a:spLocks noGrp="1"/>
          </p:cNvSpPr>
          <p:nvPr/>
        </p:nvSpPr>
        <p:spPr>
          <a:xfrm>
            <a:off x="3739896" y="1291848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B38C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AWR Parser (Python)</a:t>
            </a:r>
          </a:p>
        </p:txBody>
      </p:sp>
      <p:sp>
        <p:nvSpPr>
          <p:cNvPr id="44" name="LayItem1_1"/>
          <p:cNvSpPr>
            <a:spLocks noGrp="1"/>
          </p:cNvSpPr>
          <p:nvPr/>
        </p:nvSpPr>
        <p:spPr>
          <a:xfrm>
            <a:off x="3739896" y="2407416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B38C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SAR Parser (Python + WSL)</a:t>
            </a:r>
          </a:p>
        </p:txBody>
      </p:sp>
      <p:sp>
        <p:nvSpPr>
          <p:cNvPr id="45" name="LayItem1_2"/>
          <p:cNvSpPr>
            <a:spLocks noGrp="1"/>
          </p:cNvSpPr>
          <p:nvPr/>
        </p:nvSpPr>
        <p:spPr>
          <a:xfrm>
            <a:off x="3739896" y="3522983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B38C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Queue Processor (NSSM)</a:t>
            </a:r>
          </a:p>
        </p:txBody>
      </p:sp>
      <p:sp>
        <p:nvSpPr>
          <p:cNvPr id="46" name="LayItem1_3"/>
          <p:cNvSpPr>
            <a:spLocks noGrp="1"/>
          </p:cNvSpPr>
          <p:nvPr/>
        </p:nvSpPr>
        <p:spPr>
          <a:xfrm>
            <a:off x="3739896" y="4638552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B38C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Rules + AI Engine</a:t>
            </a:r>
          </a:p>
        </p:txBody>
      </p:sp>
      <p:sp>
        <p:nvSpPr>
          <p:cNvPr id="60" name="LayBG2"/>
          <p:cNvSpPr>
            <a:spLocks noGrp="1"/>
          </p:cNvSpPr>
          <p:nvPr/>
        </p:nvSpPr>
        <p:spPr>
          <a:xfrm>
            <a:off x="6455664" y="715776"/>
            <a:ext cx="2724912" cy="544068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LayTop2"/>
          <p:cNvSpPr>
            <a:spLocks noGrp="1"/>
          </p:cNvSpPr>
          <p:nvPr/>
        </p:nvSpPr>
        <p:spPr>
          <a:xfrm>
            <a:off x="6455664" y="715776"/>
            <a:ext cx="272491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LayLbl2"/>
          <p:cNvSpPr>
            <a:spLocks noGrp="1"/>
          </p:cNvSpPr>
          <p:nvPr/>
        </p:nvSpPr>
        <p:spPr>
          <a:xfrm>
            <a:off x="6455664" y="807216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950" dirty="0">
                <a:solidFill>
                  <a:srgbClr val="FFC000"/>
                </a:solidFill>
                <a:latin typeface="Calibri"/>
              </a:rPr>
              <a:t>STORAGE</a:t>
            </a:r>
          </a:p>
        </p:txBody>
      </p:sp>
      <p:sp>
        <p:nvSpPr>
          <p:cNvPr id="63" name="LayItem2_0"/>
          <p:cNvSpPr>
            <a:spLocks noGrp="1"/>
          </p:cNvSpPr>
          <p:nvPr/>
        </p:nvSpPr>
        <p:spPr>
          <a:xfrm>
            <a:off x="6592824" y="1291848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PostgreSQL Database</a:t>
            </a:r>
          </a:p>
        </p:txBody>
      </p:sp>
      <p:sp>
        <p:nvSpPr>
          <p:cNvPr id="64" name="LayItem2_1"/>
          <p:cNvSpPr>
            <a:spLocks noGrp="1"/>
          </p:cNvSpPr>
          <p:nvPr/>
        </p:nvSpPr>
        <p:spPr>
          <a:xfrm>
            <a:off x="6592824" y="2407416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AWR / SAR data tables</a:t>
            </a:r>
          </a:p>
        </p:txBody>
      </p:sp>
      <p:sp>
        <p:nvSpPr>
          <p:cNvPr id="65" name="LayItem2_2"/>
          <p:cNvSpPr>
            <a:spLocks noGrp="1"/>
          </p:cNvSpPr>
          <p:nvPr/>
        </p:nvSpPr>
        <p:spPr>
          <a:xfrm>
            <a:off x="6592824" y="3522983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Anomaly scores store</a:t>
            </a:r>
          </a:p>
        </p:txBody>
      </p:sp>
      <p:sp>
        <p:nvSpPr>
          <p:cNvPr id="66" name="LayItem2_3"/>
          <p:cNvSpPr>
            <a:spLocks noGrp="1"/>
          </p:cNvSpPr>
          <p:nvPr/>
        </p:nvSpPr>
        <p:spPr>
          <a:xfrm>
            <a:off x="6592824" y="4638552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Recommendations store</a:t>
            </a:r>
          </a:p>
        </p:txBody>
      </p:sp>
      <p:sp>
        <p:nvSpPr>
          <p:cNvPr id="80" name="LayBG3"/>
          <p:cNvSpPr>
            <a:spLocks noGrp="1"/>
          </p:cNvSpPr>
          <p:nvPr/>
        </p:nvSpPr>
        <p:spPr>
          <a:xfrm>
            <a:off x="9308592" y="715776"/>
            <a:ext cx="2724912" cy="5440680"/>
          </a:xfrm>
          <a:prstGeom prst="roundRect">
            <a:avLst>
              <a:gd name="adj" fmla="val 4000"/>
            </a:avLst>
          </a:prstGeom>
          <a:solidFill>
            <a:srgbClr val="EDE9F7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LayTop3"/>
          <p:cNvSpPr>
            <a:spLocks noGrp="1"/>
          </p:cNvSpPr>
          <p:nvPr/>
        </p:nvSpPr>
        <p:spPr>
          <a:xfrm>
            <a:off x="9308592" y="715776"/>
            <a:ext cx="2724912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LayLbl3"/>
          <p:cNvSpPr>
            <a:spLocks noGrp="1"/>
          </p:cNvSpPr>
          <p:nvPr/>
        </p:nvSpPr>
        <p:spPr>
          <a:xfrm>
            <a:off x="9308592" y="807216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950" dirty="0">
                <a:solidFill>
                  <a:srgbClr val="7B2FBE"/>
                </a:solidFill>
                <a:latin typeface="Calibri"/>
              </a:rPr>
              <a:t>PRESENTATION</a:t>
            </a:r>
          </a:p>
        </p:txBody>
      </p:sp>
      <p:sp>
        <p:nvSpPr>
          <p:cNvPr id="83" name="LayItem3_0"/>
          <p:cNvSpPr>
            <a:spLocks noGrp="1"/>
          </p:cNvSpPr>
          <p:nvPr/>
        </p:nvSpPr>
        <p:spPr>
          <a:xfrm>
            <a:off x="9445752" y="1291848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FastAPI Web Portal</a:t>
            </a:r>
          </a:p>
        </p:txBody>
      </p:sp>
      <p:sp>
        <p:nvSpPr>
          <p:cNvPr id="84" name="LayItem3_1"/>
          <p:cNvSpPr>
            <a:spLocks noGrp="1"/>
          </p:cNvSpPr>
          <p:nvPr/>
        </p:nvSpPr>
        <p:spPr>
          <a:xfrm>
            <a:off x="9445752" y="2407416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50+ Grafana Dashboards</a:t>
            </a:r>
          </a:p>
        </p:txBody>
      </p:sp>
      <p:sp>
        <p:nvSpPr>
          <p:cNvPr id="85" name="LayItem3_2"/>
          <p:cNvSpPr>
            <a:spLocks noGrp="1"/>
          </p:cNvSpPr>
          <p:nvPr/>
        </p:nvSpPr>
        <p:spPr>
          <a:xfrm>
            <a:off x="9445752" y="3522983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AWR Trends Navigator</a:t>
            </a:r>
          </a:p>
        </p:txBody>
      </p:sp>
      <p:sp>
        <p:nvSpPr>
          <p:cNvPr id="86" name="LayItem3_3"/>
          <p:cNvSpPr>
            <a:spLocks noGrp="1"/>
          </p:cNvSpPr>
          <p:nvPr/>
        </p:nvSpPr>
        <p:spPr>
          <a:xfrm>
            <a:off x="9445752" y="4638552"/>
            <a:ext cx="245059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txBody>
          <a:bodyPr anchor="ctr"/>
          <a:lstStyle/>
          <a:p>
            <a:pPr algn="l"/>
            <a:r>
              <a:rPr lang="en-IN" sz="1100" dirty="0">
                <a:solidFill>
                  <a:srgbClr val="001F5F"/>
                </a:solidFill>
                <a:latin typeface="Calibri"/>
              </a:rPr>
              <a:t>AI Recommendations UI</a:t>
            </a:r>
          </a:p>
        </p:txBody>
      </p:sp>
      <p:sp>
        <p:nvSpPr>
          <p:cNvPr id="90" name="Arrow0"/>
          <p:cNvSpPr>
            <a:spLocks noGrp="1"/>
          </p:cNvSpPr>
          <p:nvPr/>
        </p:nvSpPr>
        <p:spPr>
          <a:xfrm>
            <a:off x="3401568" y="2983488"/>
            <a:ext cx="164592" cy="2743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200" dirty="0">
                <a:solidFill>
                  <a:srgbClr val="001F5F"/>
                </a:solidFill>
                <a:latin typeface="Calibri"/>
              </a:rPr>
              <a:t>▶</a:t>
            </a:r>
          </a:p>
        </p:txBody>
      </p:sp>
      <p:sp>
        <p:nvSpPr>
          <p:cNvPr id="91" name="Arrow1"/>
          <p:cNvSpPr>
            <a:spLocks noGrp="1"/>
          </p:cNvSpPr>
          <p:nvPr/>
        </p:nvSpPr>
        <p:spPr>
          <a:xfrm>
            <a:off x="6254496" y="2983488"/>
            <a:ext cx="164592" cy="2743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200" dirty="0">
                <a:solidFill>
                  <a:srgbClr val="001F5F"/>
                </a:solidFill>
                <a:latin typeface="Calibri"/>
              </a:rPr>
              <a:t>▶</a:t>
            </a:r>
          </a:p>
        </p:txBody>
      </p:sp>
      <p:sp>
        <p:nvSpPr>
          <p:cNvPr id="92" name="Arrow2"/>
          <p:cNvSpPr>
            <a:spLocks noGrp="1"/>
          </p:cNvSpPr>
          <p:nvPr/>
        </p:nvSpPr>
        <p:spPr>
          <a:xfrm>
            <a:off x="9107424" y="2983488"/>
            <a:ext cx="164592" cy="2743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1200" dirty="0">
                <a:solidFill>
                  <a:srgbClr val="001F5F"/>
                </a:solidFill>
                <a:latin typeface="Calibri"/>
              </a:rPr>
              <a:t>▶</a:t>
            </a:r>
          </a:p>
        </p:txBody>
      </p:sp>
      <p:sp>
        <p:nvSpPr>
          <p:cNvPr id="95" name="TechBG"/>
          <p:cNvSpPr>
            <a:spLocks noGrp="1"/>
          </p:cNvSpPr>
          <p:nvPr/>
        </p:nvSpPr>
        <p:spPr>
          <a:xfrm>
            <a:off x="612648" y="6202176"/>
            <a:ext cx="11576304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Tech"/>
          <p:cNvSpPr>
            <a:spLocks noGrp="1"/>
          </p:cNvSpPr>
          <p:nvPr/>
        </p:nvSpPr>
        <p:spPr>
          <a:xfrm>
            <a:off x="749808" y="6220464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latin typeface="Calibri"/>
              </a:rPr>
              <a:t>Tech Stack:  Python 3.13  ·  FastAPI  ·  PostgreSQL  ·  Grafana 12 OSS  ·  NSSM  ·  Windows Server  ·  WSL (SAR conversion)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>
            <a:spLocks noGrp="1"/>
          </p:cNvSpPr>
          <p:nvPr/>
        </p:nvSpPr>
        <p:spPr>
          <a:xfrm>
            <a:off x="582448" y="682075"/>
            <a:ext cx="11576304" cy="1781471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612648" y="2541177"/>
            <a:ext cx="11576304" cy="91440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otBG"/>
          <p:cNvSpPr>
            <a:spLocks noGrp="1"/>
          </p:cNvSpPr>
          <p:nvPr/>
        </p:nvSpPr>
        <p:spPr>
          <a:xfrm>
            <a:off x="612648" y="2717672"/>
            <a:ext cx="11576304" cy="3225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MainTitle"/>
          <p:cNvSpPr>
            <a:spLocks noGrp="1"/>
          </p:cNvSpPr>
          <p:nvPr/>
        </p:nvSpPr>
        <p:spPr>
          <a:xfrm>
            <a:off x="749808" y="4785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4000" b="1" dirty="0">
                <a:solidFill>
                  <a:srgbClr val="FFFFFF"/>
                </a:solidFill>
                <a:latin typeface="Calibri"/>
              </a:rPr>
              <a:t>Ready to Deploy</a:t>
            </a:r>
          </a:p>
        </p:txBody>
      </p:sp>
      <p:sp>
        <p:nvSpPr>
          <p:cNvPr id="21" name="Line1"/>
          <p:cNvSpPr>
            <a:spLocks noGrp="1"/>
          </p:cNvSpPr>
          <p:nvPr/>
        </p:nvSpPr>
        <p:spPr>
          <a:xfrm>
            <a:off x="1097280" y="1160009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700" b="1" dirty="0">
                <a:solidFill>
                  <a:schemeClr val="bg1"/>
                </a:solidFill>
                <a:latin typeface="Calibri"/>
              </a:rPr>
              <a:t>AWR Insight Portal is production-ready and fully tested on the MERC database environment.</a:t>
            </a:r>
          </a:p>
        </p:txBody>
      </p:sp>
      <p:sp>
        <p:nvSpPr>
          <p:cNvPr id="22" name="Line2"/>
          <p:cNvSpPr>
            <a:spLocks noGrp="1"/>
          </p:cNvSpPr>
          <p:nvPr/>
        </p:nvSpPr>
        <p:spPr>
          <a:xfrm>
            <a:off x="1097280" y="1571489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700" b="1" dirty="0">
                <a:solidFill>
                  <a:schemeClr val="bg1"/>
                </a:solidFill>
                <a:latin typeface="Calibri"/>
              </a:rPr>
              <a:t>Deployment is self-contained — no external cloud, no third-party subscriptions required.</a:t>
            </a:r>
          </a:p>
        </p:txBody>
      </p:sp>
      <p:sp>
        <p:nvSpPr>
          <p:cNvPr id="30" name="StepCard0"/>
          <p:cNvSpPr>
            <a:spLocks noGrp="1"/>
          </p:cNvSpPr>
          <p:nvPr/>
        </p:nvSpPr>
        <p:spPr>
          <a:xfrm>
            <a:off x="749808" y="2751698"/>
            <a:ext cx="2724912" cy="283039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tepTop0"/>
          <p:cNvSpPr>
            <a:spLocks noGrp="1"/>
          </p:cNvSpPr>
          <p:nvPr/>
        </p:nvSpPr>
        <p:spPr>
          <a:xfrm>
            <a:off x="749808" y="2751697"/>
            <a:ext cx="2724912" cy="65257"/>
          </a:xfrm>
          <a:prstGeom prst="rect">
            <a:avLst/>
          </a:prstGeom>
          <a:solidFill>
            <a:srgbClr val="00B3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StepCircle0"/>
          <p:cNvSpPr>
            <a:spLocks noGrp="1"/>
          </p:cNvSpPr>
          <p:nvPr/>
        </p:nvSpPr>
        <p:spPr>
          <a:xfrm>
            <a:off x="1773936" y="2934578"/>
            <a:ext cx="676656" cy="689862"/>
          </a:xfrm>
          <a:prstGeom prst="roundRect">
            <a:avLst>
              <a:gd name="adj" fmla="val 50000"/>
            </a:avLst>
          </a:prstGeom>
          <a:solidFill>
            <a:srgbClr val="00B38C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2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StepTitle0"/>
          <p:cNvSpPr>
            <a:spLocks noGrp="1"/>
          </p:cNvSpPr>
          <p:nvPr/>
        </p:nvSpPr>
        <p:spPr>
          <a:xfrm>
            <a:off x="886968" y="3739249"/>
            <a:ext cx="2450592" cy="4195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Production Deployment</a:t>
            </a:r>
          </a:p>
        </p:txBody>
      </p:sp>
      <p:sp>
        <p:nvSpPr>
          <p:cNvPr id="34" name="StepBody0"/>
          <p:cNvSpPr>
            <a:spLocks noGrp="1"/>
          </p:cNvSpPr>
          <p:nvPr/>
        </p:nvSpPr>
        <p:spPr>
          <a:xfrm>
            <a:off x="886968" y="4214738"/>
            <a:ext cx="2450592" cy="186449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Install on production Windows server. Configure DB connections, Grafana, and service accounts. Run bulk import of dashboards.</a:t>
            </a:r>
          </a:p>
        </p:txBody>
      </p:sp>
      <p:sp>
        <p:nvSpPr>
          <p:cNvPr id="40" name="StepCard1"/>
          <p:cNvSpPr>
            <a:spLocks noGrp="1"/>
          </p:cNvSpPr>
          <p:nvPr/>
        </p:nvSpPr>
        <p:spPr>
          <a:xfrm>
            <a:off x="3602736" y="2751698"/>
            <a:ext cx="2724912" cy="283039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tepTop1"/>
          <p:cNvSpPr>
            <a:spLocks noGrp="1"/>
          </p:cNvSpPr>
          <p:nvPr/>
        </p:nvSpPr>
        <p:spPr>
          <a:xfrm>
            <a:off x="3602736" y="2751697"/>
            <a:ext cx="2724912" cy="65257"/>
          </a:xfrm>
          <a:prstGeom prst="rect">
            <a:avLst/>
          </a:prstGeom>
          <a:solidFill>
            <a:srgbClr val="034EA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StepCircle1"/>
          <p:cNvSpPr>
            <a:spLocks noGrp="1"/>
          </p:cNvSpPr>
          <p:nvPr/>
        </p:nvSpPr>
        <p:spPr>
          <a:xfrm>
            <a:off x="4626864" y="2934578"/>
            <a:ext cx="676656" cy="689862"/>
          </a:xfrm>
          <a:prstGeom prst="roundRect">
            <a:avLst>
              <a:gd name="adj" fmla="val 50000"/>
            </a:avLst>
          </a:prstGeom>
          <a:solidFill>
            <a:srgbClr val="034EA1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2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StepTitle1"/>
          <p:cNvSpPr>
            <a:spLocks noGrp="1"/>
          </p:cNvSpPr>
          <p:nvPr/>
        </p:nvSpPr>
        <p:spPr>
          <a:xfrm>
            <a:off x="3739896" y="3739249"/>
            <a:ext cx="2450592" cy="4195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Onboard DBA Team</a:t>
            </a:r>
          </a:p>
        </p:txBody>
      </p:sp>
      <p:sp>
        <p:nvSpPr>
          <p:cNvPr id="44" name="StepBody1"/>
          <p:cNvSpPr>
            <a:spLocks noGrp="1"/>
          </p:cNvSpPr>
          <p:nvPr/>
        </p:nvSpPr>
        <p:spPr>
          <a:xfrm>
            <a:off x="3739896" y="4214738"/>
            <a:ext cx="2450592" cy="186449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Share portal URL, create user accounts. Walk team through AWR upload workflow and dashboard navigation.</a:t>
            </a:r>
          </a:p>
        </p:txBody>
      </p:sp>
      <p:sp>
        <p:nvSpPr>
          <p:cNvPr id="50" name="StepCard2"/>
          <p:cNvSpPr>
            <a:spLocks noGrp="1"/>
          </p:cNvSpPr>
          <p:nvPr/>
        </p:nvSpPr>
        <p:spPr>
          <a:xfrm>
            <a:off x="6455664" y="2751698"/>
            <a:ext cx="2724912" cy="283039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tepTop2"/>
          <p:cNvSpPr>
            <a:spLocks noGrp="1"/>
          </p:cNvSpPr>
          <p:nvPr/>
        </p:nvSpPr>
        <p:spPr>
          <a:xfrm>
            <a:off x="6455664" y="2751697"/>
            <a:ext cx="2724912" cy="6525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tepCircle2"/>
          <p:cNvSpPr>
            <a:spLocks noGrp="1"/>
          </p:cNvSpPr>
          <p:nvPr/>
        </p:nvSpPr>
        <p:spPr>
          <a:xfrm>
            <a:off x="7479792" y="2934578"/>
            <a:ext cx="676656" cy="689862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2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StepTitle2"/>
          <p:cNvSpPr>
            <a:spLocks noGrp="1"/>
          </p:cNvSpPr>
          <p:nvPr/>
        </p:nvSpPr>
        <p:spPr>
          <a:xfrm>
            <a:off x="6592824" y="3739249"/>
            <a:ext cx="2450592" cy="4195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Establish Parsing Routine</a:t>
            </a:r>
          </a:p>
        </p:txBody>
      </p:sp>
      <p:sp>
        <p:nvSpPr>
          <p:cNvPr id="54" name="StepBody2"/>
          <p:cNvSpPr>
            <a:spLocks noGrp="1"/>
          </p:cNvSpPr>
          <p:nvPr/>
        </p:nvSpPr>
        <p:spPr>
          <a:xfrm>
            <a:off x="6592824" y="4214738"/>
            <a:ext cx="2450592" cy="186449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Set up daily/weekly AWR and SAR report drop routine. Configure SAR watcher for binary file auto-conversion.</a:t>
            </a:r>
          </a:p>
        </p:txBody>
      </p:sp>
      <p:sp>
        <p:nvSpPr>
          <p:cNvPr id="60" name="StepCard3"/>
          <p:cNvSpPr>
            <a:spLocks noGrp="1"/>
          </p:cNvSpPr>
          <p:nvPr/>
        </p:nvSpPr>
        <p:spPr>
          <a:xfrm>
            <a:off x="9308592" y="2751698"/>
            <a:ext cx="2724912" cy="283039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tepTop3"/>
          <p:cNvSpPr>
            <a:spLocks noGrp="1"/>
          </p:cNvSpPr>
          <p:nvPr/>
        </p:nvSpPr>
        <p:spPr>
          <a:xfrm>
            <a:off x="9308592" y="2751697"/>
            <a:ext cx="2724912" cy="65257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tepCircle3"/>
          <p:cNvSpPr>
            <a:spLocks noGrp="1"/>
          </p:cNvSpPr>
          <p:nvPr/>
        </p:nvSpPr>
        <p:spPr>
          <a:xfrm>
            <a:off x="10332720" y="2934578"/>
            <a:ext cx="676656" cy="689862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>
            <a:noFill/>
          </a:ln>
        </p:spPr>
        <p:txBody>
          <a:bodyPr anchor="ctr"/>
          <a:lstStyle/>
          <a:p>
            <a:pPr algn="l"/>
            <a:r>
              <a:rPr lang="en-IN" sz="26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StepTitle3"/>
          <p:cNvSpPr>
            <a:spLocks noGrp="1"/>
          </p:cNvSpPr>
          <p:nvPr/>
        </p:nvSpPr>
        <p:spPr>
          <a:xfrm>
            <a:off x="9445752" y="3739249"/>
            <a:ext cx="2450592" cy="41951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IN" sz="1700" b="1" dirty="0">
                <a:solidFill>
                  <a:srgbClr val="001F5F"/>
                </a:solidFill>
                <a:latin typeface="Calibri"/>
              </a:rPr>
              <a:t>Ongoing Intelligence</a:t>
            </a:r>
          </a:p>
        </p:txBody>
      </p:sp>
      <p:sp>
        <p:nvSpPr>
          <p:cNvPr id="64" name="StepBody3"/>
          <p:cNvSpPr>
            <a:spLocks noGrp="1"/>
          </p:cNvSpPr>
          <p:nvPr/>
        </p:nvSpPr>
        <p:spPr>
          <a:xfrm>
            <a:off x="9445752" y="4214738"/>
            <a:ext cx="2450592" cy="186449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IN" sz="1300" dirty="0">
                <a:latin typeface="Calibri"/>
              </a:rPr>
              <a:t>As data accumulates, anomaly detection baselines improve. AI recommendations become more context-aware.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2CAFFAF-83B3-69C5-0E4B-3C01539B3957}"/>
              </a:ext>
            </a:extLst>
          </p:cNvPr>
          <p:cNvSpPr txBox="1"/>
          <p:nvPr/>
        </p:nvSpPr>
        <p:spPr>
          <a:xfrm>
            <a:off x="2068848" y="3075057"/>
            <a:ext cx="8054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Thank You</a:t>
            </a:r>
            <a:endParaRPr kumimoji="0" lang="en-I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257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Klassify>
  <SNO>1</SNO>
  <KDate>2024-11-21 15:03:08</KDate>
  <Classification>INTERNAL</Classification>
  <Subclassification/>
  <HostName>MBP-TE000105</HostName>
  <Domain_User>LNTFINSVCS/TE000081</Domain_User>
  <IPAdd>10.6.105.215</IPAdd>
  <FilePath>C:\Users\TE000081\Downloads\Avekshaa-LTF-Review-Meeting-v0.1 (1).pptx</FilePath>
  <KID>AC198E873F9D638677981881240518</KID>
  <UniqueName/>
  <Suggested/>
  <Justification/>
</Klassify>
</file>

<file path=customXml/itemProps1.xml><?xml version="1.0" encoding="utf-8"?>
<ds:datastoreItem xmlns:ds="http://schemas.openxmlformats.org/officeDocument/2006/customXml" ds:itemID="{31843809-BE40-4BAD-A905-9C778AD8847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25603</TotalTime>
  <Words>1384</Words>
  <Application>Microsoft Office PowerPoint</Application>
  <PresentationFormat>Widescreen</PresentationFormat>
  <Paragraphs>204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Display</vt:lpstr>
      <vt:lpstr>Arial</vt:lpstr>
      <vt:lpstr>Calibri</vt:lpstr>
      <vt:lpstr>Calibri Light</vt:lpstr>
      <vt:lpstr>Times New Roman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 Phase - Proposal for Architecture modelling &amp; documenting at AadharFinance</dc:title>
  <dc:creator>Vinayak</dc:creator>
  <cp:keywords>INTERNAL</cp:keywords>
  <cp:lastModifiedBy>Administrator</cp:lastModifiedBy>
  <cp:revision>1324</cp:revision>
  <dcterms:created xsi:type="dcterms:W3CDTF">2024-10-24T09:39:03Z</dcterms:created>
  <dcterms:modified xsi:type="dcterms:W3CDTF">2026-07-27T12:06:11Z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Rules">
    <vt:lpwstr/>
  </property>
  <property fmtid="{D5CDD505-2E9C-101B-9397-08002B2CF9AE}" pid="4" name="Reclassification">
    <vt:lpwstr>Yes</vt:lpwstr>
  </property>
  <property fmtid="{D5CDD505-2E9C-101B-9397-08002B2CF9AE}" pid="5" name="Hostname">
    <vt:lpwstr>MBP-TE000081</vt:lpwstr>
  </property>
  <property fmtid="{D5CDD505-2E9C-101B-9397-08002B2CF9AE}" pid="6" name="Department">
    <vt:lpwstr>DevOps</vt:lpwstr>
  </property>
  <property fmtid="{D5CDD505-2E9C-101B-9397-08002B2CF9AE}" pid="7" name="Author">
    <vt:lpwstr>TE000081</vt:lpwstr>
  </property>
  <property fmtid="{D5CDD505-2E9C-101B-9397-08002B2CF9AE}" pid="8" name="KID">
    <vt:lpwstr>AC198E873F9D638677981881240518</vt:lpwstr>
  </property>
</Properties>
</file>